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F3A5F"/>
                </a:solidFill>
              </a:rPr>
              <a:t>Recall@K — FAISS vs. FAISS + Reranker (n=2,000 held-out claims)</a:t>
            </a:r>
          </a:p>
        </c:rich>
      </c:tx>
      <c:layout/>
      <c:overlay val="0"/>
    </c:title>
    <c:autoTitleDeleted val="0"/>
    <c:plotArea>
      <c:barChart>
        <c:barDir val="col"/>
        <c:grouping val="clustered"/>
        <c:ser>
          <c:idx val="0"/>
          <c:order val="0"/>
          <c:tx>
            <c:strRef>
              <c:f>Sheet1!$B$1</c:f>
              <c:strCache>
                <c:ptCount val="1"/>
                <c:pt idx="0">
                  <c:v>FAISS only</c:v>
                </c:pt>
              </c:strCache>
            </c:strRef>
          </c:tx>
          <c:spPr>
            <a:solidFill>
              <a:srgbClr val="1F3A5F"/>
            </a:solidFill>
          </c:spPr>
          <c:cat>
            <c:strRef>
              <c:f>Sheet1!$A$2:$A$5</c:f>
              <c:strCache>
                <c:ptCount val="4"/>
                <c:pt idx="0">
                  <c:v>Recall@1</c:v>
                </c:pt>
                <c:pt idx="1">
                  <c:v>Recall@5</c:v>
                </c:pt>
                <c:pt idx="2">
                  <c:v>Recall@10</c:v>
                </c:pt>
                <c:pt idx="3">
                  <c:v>Recall@20</c:v>
                </c:pt>
              </c:strCache>
            </c:strRef>
          </c:cat>
          <c:val>
            <c:numRef>
              <c:f>Sheet1!$B$2:$B$5</c:f>
              <c:numCache>
                <c:formatCode>General</c:formatCode>
                <c:ptCount val="4"/>
                <c:pt idx="0">
                  <c:v>28.0</c:v>
                </c:pt>
                <c:pt idx="1">
                  <c:v>56.85</c:v>
                </c:pt>
                <c:pt idx="2">
                  <c:v>66.2</c:v>
                </c:pt>
                <c:pt idx="3">
                  <c:v>73.25</c:v>
                </c:pt>
              </c:numCache>
            </c:numRef>
          </c:val>
        </c:ser>
        <c:ser>
          <c:idx val="1"/>
          <c:order val="1"/>
          <c:tx>
            <c:strRef>
              <c:f>Sheet1!$C$1</c:f>
              <c:strCache>
                <c:ptCount val="1"/>
                <c:pt idx="0">
                  <c:v>FAISS + Reranker</c:v>
                </c:pt>
              </c:strCache>
            </c:strRef>
          </c:tx>
          <c:spPr>
            <a:solidFill>
              <a:srgbClr val="C97A2B"/>
            </a:solidFill>
          </c:spPr>
          <c:cat>
            <c:strRef>
              <c:f>Sheet1!$A$2:$A$5</c:f>
              <c:strCache>
                <c:ptCount val="4"/>
                <c:pt idx="0">
                  <c:v>Recall@1</c:v>
                </c:pt>
                <c:pt idx="1">
                  <c:v>Recall@5</c:v>
                </c:pt>
                <c:pt idx="2">
                  <c:v>Recall@10</c:v>
                </c:pt>
                <c:pt idx="3">
                  <c:v>Recall@20</c:v>
                </c:pt>
              </c:strCache>
            </c:strRef>
          </c:cat>
          <c:val>
            <c:numRef>
              <c:f>Sheet1!$C$2:$C$5</c:f>
              <c:numCache>
                <c:formatCode>General</c:formatCode>
                <c:ptCount val="4"/>
                <c:pt idx="0">
                  <c:v>24.45</c:v>
                </c:pt>
                <c:pt idx="1">
                  <c:v>59.05</c:v>
                </c:pt>
                <c:pt idx="2">
                  <c:v>70.1</c:v>
                </c:pt>
                <c:pt idx="3">
                  <c:v>73.25</c:v>
                </c:pt>
              </c:numCache>
            </c:numRef>
          </c:val>
        </c:ser>
        <c:dLbls>
          <c:numFmt formatCode="0.0&quot;%&quot;" sourceLinked="0"/>
          <c:txPr>
            <a:bodyPr/>
            <a:lstStyle/>
            <a:p>
              <a:pPr>
                <a:defRPr sz="10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l"/>
        <c:majorGridlines/>
        <c:title>
          <c:tx>
            <c:rich>
              <a:bodyPr/>
              <a:lstStyle/>
              <a:p>
                <a:r>
                  <a:rPr sz="1000"/>
                  <a:t>Recall (%)</a:t>
                </a:r>
              </a:p>
            </c:rich>
          </c:tx>
          <c:layout/>
          <c:overlay val="0"/>
        </c:title>
        <c:majorTickMark val="out"/>
        <c:minorTickMark val="none"/>
        <c:tickLblPos val="nextTo"/>
        <c:txPr>
          <a:bodyPr/>
          <a:lstStyle/>
          <a:p>
            <a:pPr>
              <a:defRPr sz="1000"/>
            </a:pPr>
          </a:p>
        </c:txPr>
        <c:crossAx val="-2068027336"/>
        <c:crosses val="autoZero"/>
      </c:valAx>
    </c:plotArea>
    <c:legend>
      <c:legendPos val="b"/>
      <c:overlay val="0"/>
      <c:txPr>
        <a:bodyPr/>
        <a:lstStyle/>
        <a:p>
          <a:pPr>
            <a:defRPr sz="1100"/>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F3A5F"/>
                </a:solidFill>
              </a:rPr>
              <a:t>Verifier confidence: gold vs. non-gold evidence (n=10,000 candidates)</a:t>
            </a:r>
          </a:p>
        </c:rich>
      </c:tx>
      <c:layout/>
      <c:overlay val="0"/>
    </c:title>
    <c:autoTitleDeleted val="0"/>
    <c:plotArea>
      <c:barChart>
        <c:barDir val="col"/>
        <c:grouping val="clustered"/>
        <c:ser>
          <c:idx val="0"/>
          <c:order val="0"/>
          <c:tx>
            <c:strRef>
              <c:f>Sheet1!$B$1</c:f>
              <c:strCache>
                <c:ptCount val="1"/>
                <c:pt idx="0">
                  <c:v>Mean entailment confidence</c:v>
                </c:pt>
              </c:strCache>
            </c:strRef>
          </c:tx>
          <c:spPr>
            <a:solidFill>
              <a:srgbClr val="1F3A5F"/>
            </a:solidFill>
          </c:spPr>
          <c:cat>
            <c:strRef>
              <c:f>Sheet1!$A$2:$A$4</c:f>
              <c:strCache>
                <c:ptCount val="3"/>
                <c:pt idx="0">
                  <c:v>Gold SUPPORT
evidence</c:v>
                </c:pt>
                <c:pt idx="1">
                  <c:v>Gold REFUTE
evidence</c:v>
                </c:pt>
                <c:pt idx="2">
                  <c:v>Non-gold
evidence</c:v>
                </c:pt>
              </c:strCache>
            </c:strRef>
          </c:cat>
          <c:val>
            <c:numRef>
              <c:f>Sheet1!$B$2:$B$4</c:f>
              <c:numCache>
                <c:formatCode>General</c:formatCode>
                <c:ptCount val="3"/>
                <c:pt idx="0">
                  <c:v>98.26</c:v>
                </c:pt>
                <c:pt idx="1">
                  <c:v>8.07</c:v>
                </c:pt>
                <c:pt idx="2">
                  <c:v>69.68</c:v>
                </c:pt>
              </c:numCache>
            </c:numRef>
          </c:val>
        </c:ser>
        <c:dLbls>
          <c:numFmt formatCode="0.0&quot;%&quot;" sourceLinked="0"/>
          <c:txPr>
            <a:bodyPr/>
            <a:lstStyle/>
            <a:p>
              <a:pPr>
                <a:defRPr sz="10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l"/>
        <c:majorGridlines/>
        <c:title>
          <c:tx>
            <c:rich>
              <a:bodyPr/>
              <a:lstStyle/>
              <a:p>
                <a:r>
                  <a:rPr sz="1000"/>
                  <a:t>Mean entailment prob. (%)</a:t>
                </a:r>
              </a:p>
            </c:rich>
          </c:tx>
          <c:layout/>
          <c:overlay val="0"/>
        </c:title>
        <c:majorTickMark val="out"/>
        <c:minorTickMark val="none"/>
        <c:tickLblPos val="nextTo"/>
        <c:txPr>
          <a:bodyPr/>
          <a:lstStyle/>
          <a:p>
            <a:pPr>
              <a:defRPr sz="10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F3A5F"/>
                </a:solidFill>
              </a:rPr>
              <a:t>Detection accuracy vs. majority-class baseline (n=2,700)</a:t>
            </a:r>
          </a:p>
        </c:rich>
      </c:tx>
      <c:layout/>
      <c:overlay val="0"/>
    </c:title>
    <c:autoTitleDeleted val="0"/>
    <c:plotArea>
      <c:barChart>
        <c:barDir val="col"/>
        <c:grouping val="clustered"/>
        <c:ser>
          <c:idx val="0"/>
          <c:order val="0"/>
          <c:tx>
            <c:strRef>
              <c:f>Sheet1!$B$1</c:f>
              <c:strCache>
                <c:ptCount val="1"/>
                <c:pt idx="0">
                  <c:v>Accuracy</c:v>
                </c:pt>
              </c:strCache>
            </c:strRef>
          </c:tx>
          <c:spPr>
            <a:solidFill>
              <a:srgbClr val="1F3A5F"/>
            </a:solidFill>
          </c:spPr>
          <c:cat>
            <c:strRef>
              <c:f>Sheet1!$A$2:$A$4</c:f>
              <c:strCache>
                <c:ptCount val="3"/>
                <c:pt idx="0">
                  <c:v>Attempt 0</c:v>
                </c:pt>
                <c:pt idx="1">
                  <c:v>Final</c:v>
                </c:pt>
                <c:pt idx="2">
                  <c:v>Majority
Baseline</c:v>
                </c:pt>
              </c:strCache>
            </c:strRef>
          </c:cat>
          <c:val>
            <c:numRef>
              <c:f>Sheet1!$B$2:$B$4</c:f>
              <c:numCache>
                <c:formatCode>General</c:formatCode>
                <c:ptCount val="3"/>
                <c:pt idx="0">
                  <c:v>55.9</c:v>
                </c:pt>
                <c:pt idx="1">
                  <c:v>58.0</c:v>
                </c:pt>
                <c:pt idx="2">
                  <c:v>65.1</c:v>
                </c:pt>
              </c:numCache>
            </c:numRef>
          </c:val>
        </c:ser>
        <c:dLbls>
          <c:numFmt formatCode="0.0&quot;%&quot;" sourceLinked="0"/>
          <c:txPr>
            <a:bodyPr/>
            <a:lstStyle/>
            <a:p>
              <a:pPr>
                <a:defRPr sz="10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l"/>
        <c:majorGridlines/>
        <c:title>
          <c:tx>
            <c:rich>
              <a:bodyPr/>
              <a:lstStyle/>
              <a:p>
                <a:r>
                  <a:rPr sz="1000"/>
                  <a:t>Accuracy (%)</a:t>
                </a:r>
              </a:p>
            </c:rich>
          </c:tx>
          <c:layout/>
          <c:overlay val="0"/>
        </c:title>
        <c:majorTickMark val="out"/>
        <c:minorTickMark val="none"/>
        <c:tickLblPos val="nextTo"/>
        <c:txPr>
          <a:bodyPr/>
          <a:lstStyle/>
          <a:p>
            <a:pPr>
              <a:defRPr sz="10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F3A5F"/>
                </a:solidFill>
              </a:rPr>
              <a:t>Correction outcomes (full RAGTruth test set)</a:t>
            </a:r>
          </a:p>
        </c:rich>
      </c:tx>
      <c:layout/>
      <c:overlay val="0"/>
    </c:title>
    <c:autoTitleDeleted val="0"/>
    <c:plotArea>
      <c:barChart>
        <c:barDir val="col"/>
        <c:grouping val="clustered"/>
        <c:ser>
          <c:idx val="0"/>
          <c:order val="0"/>
          <c:tx>
            <c:strRef>
              <c:f>Sheet1!$B$1</c:f>
              <c:strCache>
                <c:ptCount val="1"/>
                <c:pt idx="0">
                  <c:v>Responses (n=2,700)</c:v>
                </c:pt>
              </c:strCache>
            </c:strRef>
          </c:tx>
          <c:spPr>
            <a:solidFill>
              <a:srgbClr val="1F3A5F"/>
            </a:solidFill>
          </c:spPr>
          <c:cat>
            <c:strRef>
              <c:f>Sheet1!$A$2:$A$3</c:f>
              <c:strCache>
                <c:ptCount val="2"/>
                <c:pt idx="0">
                  <c:v>Corrected
successfully</c:v>
                </c:pt>
                <c:pt idx="1">
                  <c:v>Degraded by
correction</c:v>
                </c:pt>
              </c:strCache>
            </c:strRef>
          </c:cat>
          <c:val>
            <c:numRef>
              <c:f>Sheet1!$B$2:$B$3</c:f>
              <c:numCache>
                <c:formatCode>General</c:formatCode>
                <c:ptCount val="2"/>
                <c:pt idx="0">
                  <c:v>25</c:v>
                </c:pt>
                <c:pt idx="1">
                  <c:v>923</c:v>
                </c:pt>
              </c:numCache>
            </c:numRef>
          </c:val>
        </c:ser>
        <c:dLbls>
          <c:numFmt formatCode="0" sourceLinked="0"/>
          <c:txPr>
            <a:bodyPr/>
            <a:lstStyle/>
            <a:p>
              <a:pPr>
                <a:defRPr sz="10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l"/>
        <c:majorGridlines/>
        <c:title>
          <c:tx>
            <c:rich>
              <a:bodyPr/>
              <a:lstStyle/>
              <a:p>
                <a:r>
                  <a:rPr sz="1000"/>
                  <a:t>Count</a:t>
                </a:r>
              </a:p>
            </c:rich>
          </c:tx>
          <c:layout/>
          <c:overlay val="0"/>
        </c:title>
        <c:majorTickMark val="out"/>
        <c:minorTickMark val="none"/>
        <c:tickLblPos val="nextTo"/>
        <c:txPr>
          <a:bodyPr/>
          <a:lstStyle/>
          <a:p>
            <a:pPr>
              <a:defRPr sz="10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F3A5F"/>
                </a:solidFill>
              </a:rPr>
              <a:t>Controlled ablation comparison</a:t>
            </a:r>
          </a:p>
        </c:rich>
      </c:tx>
      <c:layout/>
      <c:overlay val="0"/>
    </c:title>
    <c:autoTitleDeleted val="0"/>
    <c:plotArea>
      <c:barChart>
        <c:barDir val="col"/>
        <c:grouping val="clustered"/>
        <c:ser>
          <c:idx val="0"/>
          <c:order val="0"/>
          <c:tx>
            <c:strRef>
              <c:f>Sheet1!$B$1</c:f>
              <c:strCache>
                <c:ptCount val="1"/>
                <c:pt idx="0">
                  <c:v>Accuracy</c:v>
                </c:pt>
              </c:strCache>
            </c:strRef>
          </c:tx>
          <c:spPr>
            <a:solidFill>
              <a:srgbClr val="1F3A5F"/>
            </a:solidFill>
          </c:spPr>
          <c:cat>
            <c:strRef>
              <c:f>Sheet1!$A$2:$A$6</c:f>
              <c:strCache>
                <c:ptCount val="5"/>
                <c:pt idx="0">
                  <c:v>A: Reranked
(n=300)</c:v>
                </c:pt>
                <c:pt idx="1">
                  <c:v>B: No Reranker
(n=300)</c:v>
                </c:pt>
                <c:pt idx="2">
                  <c:v>C: FAISS Top-1
(n=300)</c:v>
                </c:pt>
                <c:pt idx="3">
                  <c:v>D: No Correction
(n=2,700)</c:v>
                </c:pt>
                <c:pt idx="4">
                  <c:v>E: Verify-only
(n=2,700)</c:v>
                </c:pt>
              </c:strCache>
            </c:strRef>
          </c:cat>
          <c:val>
            <c:numRef>
              <c:f>Sheet1!$B$2:$B$6</c:f>
              <c:numCache>
                <c:formatCode>General</c:formatCode>
                <c:ptCount val="5"/>
                <c:pt idx="0">
                  <c:v>58.67</c:v>
                </c:pt>
                <c:pt idx="1">
                  <c:v>58.67</c:v>
                </c:pt>
                <c:pt idx="2">
                  <c:v>51.0</c:v>
                </c:pt>
                <c:pt idx="3">
                  <c:v>55.89</c:v>
                </c:pt>
                <c:pt idx="4">
                  <c:v>48.74</c:v>
                </c:pt>
              </c:numCache>
            </c:numRef>
          </c:val>
        </c:ser>
        <c:ser>
          <c:idx val="1"/>
          <c:order val="1"/>
          <c:tx>
            <c:strRef>
              <c:f>Sheet1!$C$1</c:f>
              <c:strCache>
                <c:ptCount val="1"/>
                <c:pt idx="0">
                  <c:v>Macro F1</c:v>
                </c:pt>
              </c:strCache>
            </c:strRef>
          </c:tx>
          <c:spPr>
            <a:solidFill>
              <a:srgbClr val="C97A2B"/>
            </a:solidFill>
          </c:spPr>
          <c:cat>
            <c:strRef>
              <c:f>Sheet1!$A$2:$A$6</c:f>
              <c:strCache>
                <c:ptCount val="5"/>
                <c:pt idx="0">
                  <c:v>A: Reranked
(n=300)</c:v>
                </c:pt>
                <c:pt idx="1">
                  <c:v>B: No Reranker
(n=300)</c:v>
                </c:pt>
                <c:pt idx="2">
                  <c:v>C: FAISS Top-1
(n=300)</c:v>
                </c:pt>
                <c:pt idx="3">
                  <c:v>D: No Correction
(n=2,700)</c:v>
                </c:pt>
                <c:pt idx="4">
                  <c:v>E: Verify-only
(n=2,700)</c:v>
                </c:pt>
              </c:strCache>
            </c:strRef>
          </c:cat>
          <c:val>
            <c:numRef>
              <c:f>Sheet1!$C$2:$C$6</c:f>
              <c:numCache>
                <c:formatCode>General</c:formatCode>
                <c:ptCount val="5"/>
                <c:pt idx="0">
                  <c:v>58.13</c:v>
                </c:pt>
                <c:pt idx="1">
                  <c:v>58.13</c:v>
                </c:pt>
                <c:pt idx="2">
                  <c:v>48.74</c:v>
                </c:pt>
                <c:pt idx="3">
                  <c:v>55.89</c:v>
                </c:pt>
                <c:pt idx="4">
                  <c:v>48.11</c:v>
                </c:pt>
              </c:numCache>
            </c:numRef>
          </c:val>
        </c:ser>
        <c:dLbls>
          <c:numFmt formatCode="0.0&quot;%&quot;" sourceLinked="0"/>
          <c:txPr>
            <a:bodyPr/>
            <a:lstStyle/>
            <a:p>
              <a:pPr>
                <a:defRPr sz="10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l"/>
        <c:majorGridlines/>
        <c:title>
          <c:tx>
            <c:rich>
              <a:bodyPr/>
              <a:lstStyle/>
              <a:p>
                <a:r>
                  <a:rPr sz="1000"/>
                  <a:t>%</a:t>
                </a:r>
              </a:p>
            </c:rich>
          </c:tx>
          <c:layout/>
          <c:overlay val="0"/>
        </c:title>
        <c:majorTickMark val="out"/>
        <c:minorTickMark val="none"/>
        <c:tickLblPos val="nextTo"/>
        <c:txPr>
          <a:bodyPr/>
          <a:lstStyle/>
          <a:p>
            <a:pPr>
              <a:defRPr sz="1000"/>
            </a:pPr>
          </a:p>
        </c:txPr>
        <c:crossAx val="-2068027336"/>
        <c:crosses val="autoZero"/>
      </c:valAx>
    </c:plotArea>
    <c:legend>
      <c:legendPos val="b"/>
      <c:overlay val="0"/>
      <c:txPr>
        <a:bodyPr/>
        <a:lstStyle/>
        <a:p>
          <a:pPr>
            <a:defRPr sz="11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I'm going to walk you through ClaimGuard — the hallucination-detection and self-correction pipeline I've been building. This is a full progress presentation: what the system is, how I evaluated it end-to-end, and importantly, what I found when I tested it honestly. I want to say up front that this is not a 'we solved hallucination detection' talk — it's a 'here's what we built, here's what happened when we tested it rigorously, and here's what that tells us' talk. That's deliberate, and I'll explain why it's actually the more useful outcome scientifically.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starting problem is simple: LLMs are fluent, but fluency and factual correctness are two different things. A model can produce a confident, well-formed sentence that's simply wrong. The natural fix people reach for is retrieval-augmented verification — go get evidence, check the claim against it. But that's not automatically a solved problem either, because the hard part isn't just retrieving SOME evidence — it's correctly judging whether the evidence you got actually supports the claim. That judgment step is where a lot of the interesting failure modes in this project ended up living, and it's the thread that runs through the whole talk.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research question is: can an evidence-grounded pipeline reliably detect and correct hallucinated responses? The pipeline has six stages, and I want to flag early that every one of these stages is a place where things can go wrong — a bad retrieval, a reranker that reorders things unhelpfully, an overconfident verifier, a decision policy that flags the wrong thing, or a correction step that actually makes the answer worse. The point of building this carefully was to be able to isolate WHICH of these stages actually drives the end-to-end result, rather than just reporting one aggregate number.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I wanted to address is that a lot of prior work reports retrieval recall or verifier accuracy as separate numbers, but doesn't test how those components interact once you chain them together with a decision policy and a correction loop. My working hypothesis going in was that reliable detection needs BOTH relevant evidence AND a verifier whose confidence actually tracks whether the evidence supports the claim — not just one or the other. I want to be careful here: this is the hypothesis I tested, not something I'm claiming is universally proven. The rest of the talk is basically the test of this hypothesis.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full architecture. A user query goes to Qwen3-8B to generate a candidate answer. That answer is embedded with BGE-large and searched against a FAISS index to get the top-20 evidence candidates. A BGE reranker narrows that to the top 5. The DeBERTa-v3-large verifier scores each candidate for entailment or contradiction. The Step-16 decision policy turns those scores into ACCEPT, CORRECT, or ABSTAIN. If CORRECT, a bounded correction loop regenerates the answer using the retrieved evidence and re-verifies, up to a fixed attempt budget. I'll come back to almost every one of these boxes later in the talk, because the failure analysis traces back through this exact chain.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each with a specific role. FEVER and HaluEval are for developing the verifier — training and dev. RAGTruth is the primary held-out test for the FULL pipeline — 2,700 responses that were never touched during training. TruthfulQA is a secondary, evaluation-only adversarial stress test. The important point on this slide is that RAGTruth and TruthfulQA are held out — not just informally, but with actual guards in the code that raise an error if anyone tries to build a training pool from them. I'll show that mechanism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here because I think it matters for how much you should trust everything that follows. We found that 100 HaluEval summarization records exactly overlapped 100 RAGTruth test source documents. Since each RAGTruth source has 6 model responses, that expanded to 600 affected response records. We excluded 200 pool records from training — never touched RAGTruth test itself. Beyond that, there are structural guards: if any script tries to build a training pool that includes RAGTruth test or TruthfulQA, it raises an error. And there are tests that literally run the real inference code with a sentinel gold-label value and confirm that value never appears in any model call argument. This is what lets me trust the negative results I'm about to show you — they're not an artifact of leakage.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verifier is a fine-tuned DeBERTa-v3-large, reduced to a binary entailment/contradiction head — 435 million parameters. Important detail: we didn't fabricate a neutral class. We investigated whether a legitimate 'not enough info' class could be built and found no scientifically valid source for it within this project's data, so the verifier stays strictly binary and the 'insufficient evidence' case is instead handled downstream by the decision policy's ABSTAIN outcome. On its own dev set — gold evidence paired with the right claim — it looks very strong: 96.2% accuracy, 95.85% macro F1. But I want to flag immediately: this is a GOLD-PREMISE evaluation. It tells you the verifier is good AT THE NLI TASK ITSELF. It does not tell you how the full pipeline performs once retrieval is uncertain — that's a completely different number, coming up later.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Retrieval: BGE-large embeddings into a FAISS flat index, top-20 candidates, then a BGE reranker narrows to the top 5. On a 2,000-claim held-out evaluation set, FAISS alone gets 28% recall at 1, climbing to 73.25% at 20. Adding the reranker actually LOWERS recall at 1 — 24.45% versus 28% — while improving recall at 5 and 10. This is a real, repeated finding across multiple steps of this project, not noise. So I want to be careful about the framing: the reranker is not 'better' or 'worse' in some universal sense — it trades off top-1 precision for slightly broader coverage in the top 5-10. Whether that trade-off matters downstream is exactly what the ablation study later tests directly.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retrieval, reranking, and the verifier are chained together, the picture already starts to shift. The verifier's own SELECTED evidence — the one it scores highest — only actually matches gold evidence 31.8% of the time. Overall classification accuracy in this pipeline setting is 88.6%, but that's dominated by the entailment class — entailment F1 is 92.85%, contradiction F1 drops to 71.92%. And here's the key number: look at the confidence chart. Gold SUPPORT evidence gets 98.26% mean confidence — great. Gold REFUTE evidence correctly gets pushed down to 8.07%. But NON-gold evidence — evidence that's just topically similar but not actually the right supporting sentence — still gets 69.68% mean confidence. That's uncomfortably close to genuine support. This is the first concrete sign of the verifier discrimination problem that becomes central later in the talk.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verifier's score feeds a deterministic decision policy that outputs ACCEPT, CORRECT, or ABSTAIN. If CORRECT, the correction loop regenerates the answer using the retrieved evidence and re-verifies — bounded to a small number of attempts so it can never run forever. Here's the important observation that sets up the rest of the talk: across the real RAGTruth and TruthfulQA evaluations, the attempt-0 ABSTAIN rate is exactly 0%. The policy never once says 'I'm not sure.' It always picks ACCEPT or CORRECT, even when — as we'll see — it's frequently wrong. That's the headline observation for this slide: the system is rarely uncertain, even when it should be.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central result of the whole project, and I'm not going to soften it: on RAGTruth's 2,700-response held-out test set, ClaimGuard's attempt-0 accuracy is 55.9%, final accuracy after correction is 58.0% — and the trivial majority-class baseline, just always guessing 'not hallucinated', gets 65.1%. The full pipeline underperforms a baseline that does no work at all. And on the correction side: only 25 hallucinated responses were successfully fixed, while 923 originally-correct responses were degraded by the correction step. I want to say this plainly and not bury it: ClaimGuard does not demonstrate reliable hallucination detection on RAGTruth. The rest of the talk is about why, because that diagnosis is where the actual scientific value of this project 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diagnosis. ClaimGuard's retrieval corpus is built from FEVER and Wikipedia. RAGTruth's actual source material is news articles, business listings, and QA passages — a genuinely different domain. So there's little real evidence overlap, which means retrieval returns evidence that's topically adjacent but not actually the right supporting text. The verifier then scores that irrelevant-but-topical evidence overconfidently, leading to incorrect decisions. Two diagnostic details matter here: zero of the 300 diagnostic responses had a MECHANICAL retrieval failure — retrieval never returned empty-handed. But we could NOT directly measure retrieval RELEVANCE failure, because RAGTruth doesn't have gold-relevance annotations the way FEVER does. That's an honest, disclosed gap — I did not invent a relevance metric to paper over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TruthfulQA: 790 questions, 37 categories, evaluation-only. On the multiple-choice metrics — which measure Qwen3's own answer-likelihood calibration, independent of the pipeline — MC1 is 34.05%, MC2 is 55.05%, MC0 is 44.18%. On the free-form side, where the full pipeline runs, attempt-0 accepts 80% of answers outright and the final accept rate climbs to 95.3%. Now, the important thing I want to be very explicit about: I am NOT presenting those ACCEPT rates as a truthfulness score. There is no approved automatic judge for scoring free-form generated text in this project — no human raters, no GPT-judge access — and I was explicit that I would not invent a semantic-similarity heuristic to fill that gap. So this is a disclosed limitation, not a hidden one, and I'd actually call that methodological honesty a strength rather than a weakness of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which component actually matters? I ran controlled ablations to find out. Condition A is the full pipeline with reranking, on a 300-response subset — 58.67% accuracy. Condition B removes the reranker entirely — 58.67% accuracy, identical to four decimal places on macro F1 too. So the reranker changes WHICH evidence gets selected for every single response, but it changes NOTHING about the final classification outcome. Condition C uses only the single top FAISS candidate, no top-5 — and that's measurably worse, 51% accuracy. So candidate POOL SIZE matters, ordering doesn't. Conditions D and E reuse the full 2,700-response data: D is no-correction-at-all, E is verify-only. Verify-only is worse than the full pipeline, meaning correction does contribute some net signal — but as we'll see next, it's not fixing the root cause.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synthesis diagram. Domain-mismatched corpus leads to weak or irrelevant retrieved evidence, which the verifier then scores overconfidently. Combined with near-zero abstention, that produces wrong decisions, and wrong decisions feed a correction loop that sometimes does more harm than good. The numbers on the right back this up: 38.3% of the diagnostic subset was a case where the verifier was confidently — meaning above 90% confidence — WRONG. 33.7% of corrections were harmful. Retrieval's MECHANICAL failure rate is 0% — it always returns something. And reranking, as we just saw, is not a meaningful bottleneck. I want to be careful about how I label this diagram: it's an evidence-supported failure model, built from measurements across several steps of this project. It is explicitly NOT a proven causal DAG — I have correlational, controlled-ablation evidence for each link, not a formal causal identification.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findings to take away. One, ClaimGuard did not beat the majority baseline on its primary benchmark — that's the headline negative result. Two, the FEVER/Wikipedia corpus is a poor match for RAGTruth's actual domains. Three, the verifier is substantially overconfident specifically on irrelevant evidence. Four, the decision policy essentially never abstains. Five, correction-caused harm is a downstream consequence of the earlier failures, not an independent bug in the correction logic itself. Putting that together, the conclusion I'd draw is that this project demonstrates the importance of evidence relevance and calibrated uncertainty for this kind of pipeline — not that the current implementation has solved hallucination detection. I'm not claiming that, and I don't want to leave that impression.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None of these limitations are hidden — they're listed explicitly. The biggest one, which I keep coming back to, is the domain-mismatched retrieval corpus. On the future work side, I want to be careful: none of these eight directions have been attempted or solved in this project. They're the concrete, evidence-based next steps that fall out of the failure diagnosis — things like domain-matched retrieval, verifier calibration specifically for out-of-domain evidence, an actual abstention mechanism that fires when it should, and gating correction so it only triggers on reliable signals. This is a roadmap, not a claim of partial completion.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reproducibility: inference is deterministic and that was re-checked after every major run, not assumed once and forgotten. Dataset isolation and contamination checks are enforced structurally, as I showed earlier. There are over 400 tests passing throughout the project. Evaluation configurations are frozen — nothing was tuned against the RAGTruth or TruthfulQA results themselves. No model weights were changed once evaluation started. And the full set of experiment artifacts is preserved, so every number in this talk traces back to a saved file, not something recomputed on the fly. The project's status right now is that the experimental cycle is complete — the next phase is architectural redesign based on the failure diagnosis, not more tuning of the current system.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this project went from building a hallucination detector to understanding, in a rigorous and evidence-backed way, why it fails. Three things I'd want you to remember: evidence relevance is fundamental — you can't verify against evidence that isn't actually about the claim. Confidence has to reflect evidence quality, not just pattern-match to something that looks similar. And correction should be gated by reliable uncertainty, not triggered every time the policy has any doubt at all. The next step is to redesign the evidence and uncertainty layer based on exactly what this failure analysis identified — and I want to be clear that's future work, not something already started.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 use only if the guide asks one of these questions. Not part of the timed core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 use only if the guide asks one of these questions. Not part of the timed core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 use only if the guide asks one of these questions. Not part of the timed core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 use only if the guide asks one of these questions. Not part of the timed core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 use only if the guide asks one of these questions. Not part of the timed core presentation.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chart" Target="../charts/char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chart" Target="../charts/char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331720"/>
            <a:ext cx="10332720" cy="1097280"/>
          </a:xfrm>
          <a:prstGeom prst="rect">
            <a:avLst/>
          </a:prstGeom>
          <a:noFill/>
        </p:spPr>
        <p:txBody>
          <a:bodyPr wrap="square">
            <a:spAutoFit/>
          </a:bodyPr>
          <a:lstStyle/>
          <a:p>
            <a:pPr algn="ctr"/>
            <a:r>
              <a:rPr sz="5400" b="1" i="0">
                <a:solidFill>
                  <a:srgbClr val="1F3A5F"/>
                </a:solidFill>
              </a:rPr>
              <a:t>ClaimGuard</a:t>
            </a:r>
          </a:p>
        </p:txBody>
      </p:sp>
      <p:sp>
        <p:nvSpPr>
          <p:cNvPr id="5" name="TextBox 4"/>
          <p:cNvSpPr txBox="1"/>
          <p:nvPr/>
        </p:nvSpPr>
        <p:spPr>
          <a:xfrm>
            <a:off x="914400" y="3429000"/>
            <a:ext cx="10332720" cy="914400"/>
          </a:xfrm>
          <a:prstGeom prst="rect">
            <a:avLst/>
          </a:prstGeom>
          <a:noFill/>
        </p:spPr>
        <p:txBody>
          <a:bodyPr wrap="square">
            <a:spAutoFit/>
          </a:bodyPr>
          <a:lstStyle/>
          <a:p>
            <a:pPr algn="ctr"/>
            <a:r>
              <a:rPr sz="2000" b="0" i="0">
                <a:solidFill>
                  <a:srgbClr val="202020"/>
                </a:solidFill>
              </a:rPr>
              <a:t>Evidence-Grounded Hallucination Detection and Correction
for LLM-Generated Answers</a:t>
            </a:r>
          </a:p>
        </p:txBody>
      </p:sp>
      <p:sp>
        <p:nvSpPr>
          <p:cNvPr id="6" name="TextBox 5"/>
          <p:cNvSpPr txBox="1"/>
          <p:nvPr/>
        </p:nvSpPr>
        <p:spPr>
          <a:xfrm>
            <a:off x="914400" y="4160520"/>
            <a:ext cx="10332720" cy="548640"/>
          </a:xfrm>
          <a:prstGeom prst="rect">
            <a:avLst/>
          </a:prstGeom>
          <a:noFill/>
        </p:spPr>
        <p:txBody>
          <a:bodyPr wrap="square">
            <a:spAutoFit/>
          </a:bodyPr>
          <a:lstStyle/>
          <a:p>
            <a:pPr algn="ctr"/>
            <a:r>
              <a:rPr sz="1500" b="0" i="1">
                <a:solidFill>
                  <a:srgbClr val="5B6470"/>
                </a:solidFill>
              </a:rPr>
              <a:t>Design, Evaluation, Ablation, and Failure Analysis</a:t>
            </a:r>
          </a:p>
        </p:txBody>
      </p:sp>
      <p:sp>
        <p:nvSpPr>
          <p:cNvPr id="7" name="TextBox 6"/>
          <p:cNvSpPr txBox="1"/>
          <p:nvPr/>
        </p:nvSpPr>
        <p:spPr>
          <a:xfrm>
            <a:off x="914400" y="5943600"/>
            <a:ext cx="10332720" cy="457200"/>
          </a:xfrm>
          <a:prstGeom prst="rect">
            <a:avLst/>
          </a:prstGeom>
          <a:noFill/>
        </p:spPr>
        <p:txBody>
          <a:bodyPr wrap="square">
            <a:spAutoFit/>
          </a:bodyPr>
          <a:lstStyle/>
          <a:p>
            <a:pPr algn="ctr"/>
            <a:r>
              <a:rPr sz="1300" b="0" i="0">
                <a:solidFill>
                  <a:srgbClr val="5B6470"/>
                </a:solidFill>
              </a:rPr>
              <a:t>Research Progress Presentation — Steps 1-22 Complete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960120"/>
          </a:xfrm>
          <a:prstGeom prst="rect">
            <a:avLst/>
          </a:prstGeom>
          <a:noFill/>
        </p:spPr>
        <p:txBody>
          <a:bodyPr wrap="square">
            <a:spAutoFit/>
          </a:bodyPr>
          <a:lstStyle/>
          <a:p>
            <a:r>
              <a:rPr sz="2800" b="1">
                <a:solidFill>
                  <a:srgbClr val="1F3A5F"/>
                </a:solidFill>
              </a:rPr>
              <a:t>Why Hallucination Detection Matters</a:t>
            </a:r>
          </a:p>
        </p:txBody>
      </p:sp>
      <p:sp>
        <p:nvSpPr>
          <p:cNvPr id="3" name="Rectangle 2"/>
          <p:cNvSpPr/>
          <p:nvPr/>
        </p:nvSpPr>
        <p:spPr>
          <a:xfrm>
            <a:off x="502920" y="1078992"/>
            <a:ext cx="11155680" cy="279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lide2_motivation.png"/>
          <p:cNvPicPr>
            <a:picLocks noChangeAspect="1"/>
          </p:cNvPicPr>
          <p:nvPr/>
        </p:nvPicPr>
        <p:blipFill>
          <a:blip r:embed="rId2"/>
          <a:stretch>
            <a:fillRect/>
          </a:stretch>
        </p:blipFill>
        <p:spPr>
          <a:xfrm>
            <a:off x="1039761" y="1371600"/>
            <a:ext cx="3406877" cy="5029200"/>
          </a:xfrm>
          <a:prstGeom prst="rect">
            <a:avLst/>
          </a:prstGeom>
        </p:spPr>
      </p:pic>
      <p:sp>
        <p:nvSpPr>
          <p:cNvPr id="5" name="TextBox 4"/>
          <p:cNvSpPr txBox="1"/>
          <p:nvPr/>
        </p:nvSpPr>
        <p:spPr>
          <a:xfrm>
            <a:off x="5212080" y="1828800"/>
            <a:ext cx="6309360" cy="4114800"/>
          </a:xfrm>
          <a:prstGeom prst="rect">
            <a:avLst/>
          </a:prstGeom>
          <a:noFill/>
        </p:spPr>
        <p:txBody>
          <a:bodyPr wrap="square">
            <a:spAutoFit/>
          </a:bodyPr>
          <a:lstStyle/>
          <a:p>
            <a:pPr>
              <a:spcAft>
                <a:spcPts val="1800"/>
              </a:spcAft>
            </a:pPr>
            <a:r>
              <a:rPr sz="1800">
                <a:solidFill>
                  <a:srgbClr val="202020"/>
                </a:solidFill>
              </a:rPr>
              <a:t>•  LLMs generate fluent, confident-sounding text.</a:t>
            </a:r>
          </a:p>
          <a:p>
            <a:pPr>
              <a:spcAft>
                <a:spcPts val="1800"/>
              </a:spcAft>
            </a:pPr>
            <a:r>
              <a:rPr sz="1800">
                <a:solidFill>
                  <a:srgbClr val="202020"/>
                </a:solidFill>
              </a:rPr>
              <a:t>•  Fluency does NOT guarantee factual correctness.</a:t>
            </a:r>
          </a:p>
          <a:p>
            <a:pPr>
              <a:spcAft>
                <a:spcPts val="1800"/>
              </a:spcAft>
            </a:pPr>
            <a:r>
              <a:rPr sz="1800">
                <a:solidFill>
                  <a:srgbClr val="202020"/>
                </a:solidFill>
              </a:rPr>
              <a:t>•  Retrieval-augmented verification can potentially detect unsupported claims.</a:t>
            </a:r>
          </a:p>
          <a:p>
            <a:pPr>
              <a:spcAft>
                <a:spcPts val="1800"/>
              </a:spcAft>
            </a:pPr>
            <a:r>
              <a:rPr sz="1800">
                <a:solidFill>
                  <a:srgbClr val="202020"/>
                </a:solidFill>
              </a:rPr>
              <a:t>•  But a reliable system must not just retrieve evidence — it must correctly judge whether that evidence actually supports the answer.</a:t>
            </a:r>
          </a:p>
        </p:txBody>
      </p:sp>
      <p:sp>
        <p:nvSpPr>
          <p:cNvPr id="6" name="TextBox 5"/>
          <p:cNvSpPr txBox="1"/>
          <p:nvPr/>
        </p:nvSpPr>
        <p:spPr>
          <a:xfrm>
            <a:off x="502920" y="6565392"/>
            <a:ext cx="11155680" cy="256032"/>
          </a:xfrm>
          <a:prstGeom prst="rect">
            <a:avLst/>
          </a:prstGeom>
          <a:noFill/>
        </p:spPr>
        <p:txBody>
          <a:bodyPr wrap="square">
            <a:spAutoFit/>
          </a:bodyPr>
          <a:lstStyle/>
          <a:p>
            <a:pPr algn="l"/>
            <a:r>
              <a:rPr sz="900" b="0" i="1">
                <a:solidFill>
                  <a:srgbClr val="5B6470"/>
                </a:solidFill>
              </a:rPr>
              <a:t>ClaimGuard — Motivation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960120"/>
          </a:xfrm>
          <a:prstGeom prst="rect">
            <a:avLst/>
          </a:prstGeom>
          <a:noFill/>
        </p:spPr>
        <p:txBody>
          <a:bodyPr wrap="square">
            <a:spAutoFit/>
          </a:bodyPr>
          <a:lstStyle/>
          <a:p>
            <a:r>
              <a:rPr sz="2800" b="1">
                <a:solidFill>
                  <a:srgbClr val="1F3A5F"/>
                </a:solidFill>
              </a:rPr>
              <a:t>Research Problem</a:t>
            </a:r>
          </a:p>
        </p:txBody>
      </p:sp>
      <p:sp>
        <p:nvSpPr>
          <p:cNvPr id="3" name="Rectangle 2"/>
          <p:cNvSpPr/>
          <p:nvPr/>
        </p:nvSpPr>
        <p:spPr>
          <a:xfrm>
            <a:off x="502920" y="1078992"/>
            <a:ext cx="11155680" cy="279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640080"/>
          </a:xfrm>
          <a:prstGeom prst="rect">
            <a:avLst/>
          </a:prstGeom>
          <a:noFill/>
        </p:spPr>
        <p:txBody>
          <a:bodyPr wrap="square">
            <a:spAutoFit/>
          </a:bodyPr>
          <a:lstStyle/>
          <a:p>
            <a:pPr algn="ctr"/>
            <a:r>
              <a:rPr sz="1900" b="1" i="1">
                <a:solidFill>
                  <a:srgbClr val="2F7A78"/>
                </a:solidFill>
              </a:rPr>
              <a:t>"Can an evidence-grounded pipeline reliably detect and correct hallucinated LLM responses?"</a:t>
            </a:r>
          </a:p>
        </p:txBody>
      </p:sp>
      <p:pic>
        <p:nvPicPr>
          <p:cNvPr id="5" name="Picture 4" descr="slide3_pipeline.png"/>
          <p:cNvPicPr>
            <a:picLocks noChangeAspect="1"/>
          </p:cNvPicPr>
          <p:nvPr/>
        </p:nvPicPr>
        <p:blipFill>
          <a:blip r:embed="rId2"/>
          <a:stretch>
            <a:fillRect/>
          </a:stretch>
        </p:blipFill>
        <p:spPr>
          <a:xfrm>
            <a:off x="640080" y="2103120"/>
            <a:ext cx="10881360" cy="2460133"/>
          </a:xfrm>
          <a:prstGeom prst="rect">
            <a:avLst/>
          </a:prstGeom>
        </p:spPr>
      </p:pic>
      <p:sp>
        <p:nvSpPr>
          <p:cNvPr id="6" name="TextBox 5"/>
          <p:cNvSpPr txBox="1"/>
          <p:nvPr/>
        </p:nvSpPr>
        <p:spPr>
          <a:xfrm>
            <a:off x="640080" y="5212080"/>
            <a:ext cx="10881360" cy="1463040"/>
          </a:xfrm>
          <a:prstGeom prst="rect">
            <a:avLst/>
          </a:prstGeom>
          <a:noFill/>
        </p:spPr>
        <p:txBody>
          <a:bodyPr wrap="square">
            <a:spAutoFit/>
          </a:bodyPr>
          <a:lstStyle/>
          <a:p>
            <a:pPr>
              <a:spcAft>
                <a:spcPts val="800"/>
              </a:spcAft>
            </a:pPr>
            <a:r>
              <a:rPr sz="1600">
                <a:solidFill>
                  <a:srgbClr val="202020"/>
                </a:solidFill>
              </a:rPr>
              <a:t>•  Answer -&gt; Evidence Retrieval -&gt; Evidence Ranking -&gt; Verification -&gt; Decision -&gt; Correction.</a:t>
            </a:r>
          </a:p>
          <a:p>
            <a:pPr>
              <a:spcAft>
                <a:spcPts val="800"/>
              </a:spcAft>
            </a:pPr>
            <a:r>
              <a:rPr sz="1600">
                <a:solidFill>
                  <a:srgbClr val="202020"/>
                </a:solidFill>
              </a:rPr>
              <a:t>•  Every single stage can introduce failure — a wrong retrieval, a bad rerank, an overconfident verifier, a bad decision, or a harmful correction.</a:t>
            </a:r>
          </a:p>
          <a:p>
            <a:pPr>
              <a:spcAft>
                <a:spcPts val="800"/>
              </a:spcAft>
            </a:pPr>
            <a:r>
              <a:rPr sz="1600">
                <a:solidFill>
                  <a:srgbClr val="202020"/>
                </a:solidFill>
              </a:rPr>
              <a:t>•  End-to-end reliability is a property of the WHOLE chain, not any one stage in isolation.</a:t>
            </a:r>
          </a:p>
        </p:txBody>
      </p:sp>
      <p:sp>
        <p:nvSpPr>
          <p:cNvPr id="7" name="TextBox 6"/>
          <p:cNvSpPr txBox="1"/>
          <p:nvPr/>
        </p:nvSpPr>
        <p:spPr>
          <a:xfrm>
            <a:off x="502920" y="6565392"/>
            <a:ext cx="11155680" cy="256032"/>
          </a:xfrm>
          <a:prstGeom prst="rect">
            <a:avLst/>
          </a:prstGeom>
          <a:noFill/>
        </p:spPr>
        <p:txBody>
          <a:bodyPr wrap="square">
            <a:spAutoFit/>
          </a:bodyPr>
          <a:lstStyle/>
          <a:p>
            <a:pPr algn="l"/>
            <a:r>
              <a:rPr sz="900" b="0" i="1">
                <a:solidFill>
                  <a:srgbClr val="5B6470"/>
                </a:solidFill>
              </a:rPr>
              <a:t>ClaimGuard — Research Problem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960120"/>
          </a:xfrm>
          <a:prstGeom prst="rect">
            <a:avLst/>
          </a:prstGeom>
          <a:noFill/>
        </p:spPr>
        <p:txBody>
          <a:bodyPr wrap="square">
            <a:spAutoFit/>
          </a:bodyPr>
          <a:lstStyle/>
          <a:p>
            <a:r>
              <a:rPr sz="2800" b="1">
                <a:solidFill>
                  <a:srgbClr val="1F3A5F"/>
                </a:solidFill>
              </a:rPr>
              <a:t>Research Gap</a:t>
            </a:r>
          </a:p>
        </p:txBody>
      </p:sp>
      <p:sp>
        <p:nvSpPr>
          <p:cNvPr id="3" name="Rectangle 2"/>
          <p:cNvSpPr/>
          <p:nvPr/>
        </p:nvSpPr>
        <p:spPr>
          <a:xfrm>
            <a:off x="502920" y="1078992"/>
            <a:ext cx="11155680" cy="279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10881360" cy="914400"/>
          </a:xfrm>
          <a:prstGeom prst="rect">
            <a:avLst/>
          </a:prstGeom>
          <a:noFill/>
        </p:spPr>
        <p:txBody>
          <a:bodyPr wrap="square">
            <a:spAutoFit/>
          </a:bodyPr>
          <a:lstStyle/>
          <a:p>
            <a:pPr>
              <a:spcAft>
                <a:spcPts val="1000"/>
              </a:spcAft>
            </a:pPr>
            <a:r>
              <a:rPr sz="1700">
                <a:solidFill>
                  <a:srgbClr val="202020"/>
                </a:solidFill>
              </a:rPr>
              <a:t>•  Many pipelines are evaluated component-by-component — retrieval recall here, verifier accuracy there — but end-to-end reliability depends on how these components INTERACT.</a:t>
            </a:r>
          </a:p>
        </p:txBody>
      </p:sp>
      <p:sp>
        <p:nvSpPr>
          <p:cNvPr id="5" name="TextBox 4"/>
          <p:cNvSpPr txBox="1"/>
          <p:nvPr/>
        </p:nvSpPr>
        <p:spPr>
          <a:xfrm>
            <a:off x="640080" y="2286000"/>
            <a:ext cx="10881360" cy="1188720"/>
          </a:xfrm>
          <a:prstGeom prst="rect">
            <a:avLst/>
          </a:prstGeom>
          <a:noFill/>
        </p:spPr>
        <p:txBody>
          <a:bodyPr wrap="square">
            <a:spAutoFit/>
          </a:bodyPr>
          <a:lstStyle/>
          <a:p>
            <a:pPr algn="ctr"/>
            <a:r>
              <a:rPr sz="1900" b="1">
                <a:solidFill>
                  <a:srgbClr val="1F3A5F"/>
                </a:solidFill>
              </a:rPr>
              <a:t>Retrieval quality  +  Verifier calibration  +  Decision uncertainty  +  Correction behavior</a:t>
            </a:r>
          </a:p>
          <a:p>
            <a:pPr algn="ctr"/>
            <a:r>
              <a:rPr sz="2200" b="1">
                <a:solidFill>
                  <a:srgbClr val="2F7A78"/>
                </a:solidFill>
              </a:rPr>
              <a:t>=  End-to-end reliability</a:t>
            </a:r>
          </a:p>
        </p:txBody>
      </p:sp>
      <p:sp>
        <p:nvSpPr>
          <p:cNvPr id="6" name="TextBox 5"/>
          <p:cNvSpPr txBox="1"/>
          <p:nvPr/>
        </p:nvSpPr>
        <p:spPr>
          <a:xfrm>
            <a:off x="1188720" y="3931920"/>
            <a:ext cx="9784080" cy="1005840"/>
          </a:xfrm>
          <a:prstGeom prst="rect">
            <a:avLst/>
          </a:prstGeom>
          <a:noFill/>
        </p:spPr>
        <p:txBody>
          <a:bodyPr wrap="square">
            <a:spAutoFit/>
          </a:bodyPr>
          <a:lstStyle/>
          <a:p>
            <a:pPr algn="ctr"/>
            <a:r>
              <a:rPr sz="1800" b="0" i="1">
                <a:solidFill>
                  <a:srgbClr val="202020"/>
                </a:solidFill>
              </a:rPr>
              <a:t>"Reliable hallucination detection requires both relevant evidence and a verifier whose confidence reflects actual evidence support."</a:t>
            </a:r>
          </a:p>
        </p:txBody>
      </p:sp>
      <p:sp>
        <p:nvSpPr>
          <p:cNvPr id="7" name="TextBox 6"/>
          <p:cNvSpPr txBox="1"/>
          <p:nvPr/>
        </p:nvSpPr>
        <p:spPr>
          <a:xfrm>
            <a:off x="1188720" y="5029200"/>
            <a:ext cx="9784080" cy="548640"/>
          </a:xfrm>
          <a:prstGeom prst="rect">
            <a:avLst/>
          </a:prstGeom>
          <a:noFill/>
        </p:spPr>
        <p:txBody>
          <a:bodyPr wrap="square">
            <a:spAutoFit/>
          </a:bodyPr>
          <a:lstStyle/>
          <a:p>
            <a:pPr algn="ctr"/>
            <a:r>
              <a:rPr sz="1300" b="0" i="1">
                <a:solidFill>
                  <a:srgbClr val="5B6470"/>
                </a:solidFill>
              </a:rPr>
              <a:t>This is the project's working hypothesis — tested, not assumed proven universally.</a:t>
            </a:r>
          </a:p>
        </p:txBody>
      </p:sp>
      <p:sp>
        <p:nvSpPr>
          <p:cNvPr id="8" name="TextBox 7"/>
          <p:cNvSpPr txBox="1"/>
          <p:nvPr/>
        </p:nvSpPr>
        <p:spPr>
          <a:xfrm>
            <a:off x="502920" y="6565392"/>
            <a:ext cx="11155680" cy="256032"/>
          </a:xfrm>
          <a:prstGeom prst="rect">
            <a:avLst/>
          </a:prstGeom>
          <a:noFill/>
        </p:spPr>
        <p:txBody>
          <a:bodyPr wrap="square">
            <a:spAutoFit/>
          </a:bodyPr>
          <a:lstStyle/>
          <a:p>
            <a:pPr algn="l"/>
            <a:r>
              <a:rPr sz="900" b="0" i="1">
                <a:solidFill>
                  <a:srgbClr val="5B6470"/>
                </a:solidFill>
              </a:rPr>
              <a:t>ClaimGuard — Research Gap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960120"/>
          </a:xfrm>
          <a:prstGeom prst="rect">
            <a:avLst/>
          </a:prstGeom>
          <a:noFill/>
        </p:spPr>
        <p:txBody>
          <a:bodyPr wrap="square">
            <a:spAutoFit/>
          </a:bodyPr>
          <a:lstStyle/>
          <a:p>
            <a:r>
              <a:rPr sz="2800" b="1">
                <a:solidFill>
                  <a:srgbClr val="1F3A5F"/>
                </a:solidFill>
              </a:rPr>
              <a:t>ClaimGuard Architecture</a:t>
            </a:r>
          </a:p>
        </p:txBody>
      </p:sp>
      <p:sp>
        <p:nvSpPr>
          <p:cNvPr id="3" name="Rectangle 2"/>
          <p:cNvSpPr/>
          <p:nvPr/>
        </p:nvSpPr>
        <p:spPr>
          <a:xfrm>
            <a:off x="502920" y="1078992"/>
            <a:ext cx="11155680" cy="279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lide5_architecture.png"/>
          <p:cNvPicPr>
            <a:picLocks noChangeAspect="1"/>
          </p:cNvPicPr>
          <p:nvPr/>
        </p:nvPicPr>
        <p:blipFill>
          <a:blip r:embed="rId2"/>
          <a:stretch>
            <a:fillRect/>
          </a:stretch>
        </p:blipFill>
        <p:spPr>
          <a:xfrm>
            <a:off x="4270248" y="1188720"/>
            <a:ext cx="3621024" cy="5486400"/>
          </a:xfrm>
          <a:prstGeom prst="rect">
            <a:avLst/>
          </a:prstGeom>
        </p:spPr>
      </p:pic>
      <p:sp>
        <p:nvSpPr>
          <p:cNvPr id="5" name="TextBox 4"/>
          <p:cNvSpPr txBox="1"/>
          <p:nvPr/>
        </p:nvSpPr>
        <p:spPr>
          <a:xfrm>
            <a:off x="502920" y="6565392"/>
            <a:ext cx="11155680" cy="256032"/>
          </a:xfrm>
          <a:prstGeom prst="rect">
            <a:avLst/>
          </a:prstGeom>
          <a:noFill/>
        </p:spPr>
        <p:txBody>
          <a:bodyPr wrap="square">
            <a:spAutoFit/>
          </a:bodyPr>
          <a:lstStyle/>
          <a:p>
            <a:pPr algn="l"/>
            <a:r>
              <a:rPr sz="900" b="0" i="1">
                <a:solidFill>
                  <a:srgbClr val="5B6470"/>
                </a:solidFill>
              </a:rPr>
              <a:t>ClaimGuard — Architecture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960120"/>
          </a:xfrm>
          <a:prstGeom prst="rect">
            <a:avLst/>
          </a:prstGeom>
          <a:noFill/>
        </p:spPr>
        <p:txBody>
          <a:bodyPr wrap="square">
            <a:spAutoFit/>
          </a:bodyPr>
          <a:lstStyle/>
          <a:p>
            <a:r>
              <a:rPr sz="2800" b="1">
                <a:solidFill>
                  <a:srgbClr val="1F3A5F"/>
                </a:solidFill>
              </a:rPr>
              <a:t>Datasets and Their Roles</a:t>
            </a:r>
          </a:p>
        </p:txBody>
      </p:sp>
      <p:sp>
        <p:nvSpPr>
          <p:cNvPr id="3" name="Rectangle 2"/>
          <p:cNvSpPr/>
          <p:nvPr/>
        </p:nvSpPr>
        <p:spPr>
          <a:xfrm>
            <a:off x="502920" y="1078992"/>
            <a:ext cx="11155680" cy="279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40080" y="1371600"/>
          <a:ext cx="10881360" cy="1828800"/>
        </p:xfrm>
        <a:graphic>
          <a:graphicData uri="http://schemas.openxmlformats.org/drawingml/2006/table">
            <a:tbl>
              <a:tblPr firstRow="1" bandRow="1">
                <a:tableStyleId>{5C22544A-7EE6-4342-B048-85BDC9FD1C3A}</a:tableStyleId>
              </a:tblPr>
              <a:tblGrid>
                <a:gridCol w="3627120"/>
                <a:gridCol w="3627120"/>
                <a:gridCol w="3627120"/>
              </a:tblGrid>
              <a:tr h="365760">
                <a:tc>
                  <a:txBody>
                    <a:bodyPr/>
                    <a:lstStyle/>
                    <a:p>
                      <a:pPr algn="ctr"/>
                      <a:r>
                        <a:rPr b="1" sz="1500">
                          <a:solidFill>
                            <a:srgbClr val="FFFFFF"/>
                          </a:solidFill>
                        </a:rPr>
                        <a:t>Dataset</a:t>
                      </a:r>
                    </a:p>
                  </a:txBody>
                  <a:tcPr>
                    <a:solidFill>
                      <a:srgbClr val="1F3A5F"/>
                    </a:solidFill>
                  </a:tcPr>
                </a:tc>
                <a:tc>
                  <a:txBody>
                    <a:bodyPr/>
                    <a:lstStyle/>
                    <a:p>
                      <a:pPr algn="ctr"/>
                      <a:r>
                        <a:rPr b="1" sz="1500">
                          <a:solidFill>
                            <a:srgbClr val="FFFFFF"/>
                          </a:solidFill>
                        </a:rPr>
                        <a:t>Purpose</a:t>
                      </a:r>
                    </a:p>
                  </a:txBody>
                  <a:tcPr>
                    <a:solidFill>
                      <a:srgbClr val="1F3A5F"/>
                    </a:solidFill>
                  </a:tcPr>
                </a:tc>
                <a:tc>
                  <a:txBody>
                    <a:bodyPr/>
                    <a:lstStyle/>
                    <a:p>
                      <a:pPr algn="ctr"/>
                      <a:r>
                        <a:rPr b="1" sz="1500">
                          <a:solidFill>
                            <a:srgbClr val="FFFFFF"/>
                          </a:solidFill>
                        </a:rPr>
                        <a:t>Usage</a:t>
                      </a:r>
                    </a:p>
                  </a:txBody>
                  <a:tcPr>
                    <a:solidFill>
                      <a:srgbClr val="1F3A5F"/>
                    </a:solidFill>
                  </a:tcPr>
                </a:tc>
              </a:tr>
              <a:tr h="365760">
                <a:tc>
                  <a:txBody>
                    <a:bodyPr/>
                    <a:lstStyle/>
                    <a:p>
                      <a:pPr algn="l"/>
                      <a:r>
                        <a:rPr sz="1500">
                          <a:solidFill>
                            <a:srgbClr val="202020"/>
                          </a:solidFill>
                        </a:rPr>
                        <a:t>FEVER</a:t>
                      </a:r>
                    </a:p>
                  </a:txBody>
                  <a:tcPr>
                    <a:solidFill>
                      <a:srgbClr val="FFFFFF"/>
                    </a:solidFill>
                  </a:tcPr>
                </a:tc>
                <a:tc>
                  <a:txBody>
                    <a:bodyPr/>
                    <a:lstStyle/>
                    <a:p>
                      <a:pPr algn="ctr"/>
                      <a:r>
                        <a:rPr sz="1500">
                          <a:solidFill>
                            <a:srgbClr val="202020"/>
                          </a:solidFill>
                        </a:rPr>
                        <a:t>Verifier / retrieval development</a:t>
                      </a:r>
                    </a:p>
                  </a:txBody>
                  <a:tcPr>
                    <a:solidFill>
                      <a:srgbClr val="FFFFFF"/>
                    </a:solidFill>
                  </a:tcPr>
                </a:tc>
                <a:tc>
                  <a:txBody>
                    <a:bodyPr/>
                    <a:lstStyle/>
                    <a:p>
                      <a:pPr algn="ctr"/>
                      <a:r>
                        <a:rPr sz="1500">
                          <a:solidFill>
                            <a:srgbClr val="202020"/>
                          </a:solidFill>
                        </a:rPr>
                        <a:t>Train / Dev</a:t>
                      </a:r>
                    </a:p>
                  </a:txBody>
                  <a:tcPr>
                    <a:solidFill>
                      <a:srgbClr val="FFFFFF"/>
                    </a:solidFill>
                  </a:tcPr>
                </a:tc>
              </a:tr>
              <a:tr h="365760">
                <a:tc>
                  <a:txBody>
                    <a:bodyPr/>
                    <a:lstStyle/>
                    <a:p>
                      <a:pPr algn="l"/>
                      <a:r>
                        <a:rPr sz="1500">
                          <a:solidFill>
                            <a:srgbClr val="202020"/>
                          </a:solidFill>
                        </a:rPr>
                        <a:t>HaluEval</a:t>
                      </a:r>
                    </a:p>
                  </a:txBody>
                  <a:tcPr>
                    <a:solidFill>
                      <a:srgbClr val="F2F4F7"/>
                    </a:solidFill>
                  </a:tcPr>
                </a:tc>
                <a:tc>
                  <a:txBody>
                    <a:bodyPr/>
                    <a:lstStyle/>
                    <a:p>
                      <a:pPr algn="ctr"/>
                      <a:r>
                        <a:rPr sz="1500">
                          <a:solidFill>
                            <a:srgbClr val="202020"/>
                          </a:solidFill>
                        </a:rPr>
                        <a:t>Verifier development supplement</a:t>
                      </a:r>
                    </a:p>
                  </a:txBody>
                  <a:tcPr>
                    <a:solidFill>
                      <a:srgbClr val="F2F4F7"/>
                    </a:solidFill>
                  </a:tcPr>
                </a:tc>
                <a:tc>
                  <a:txBody>
                    <a:bodyPr/>
                    <a:lstStyle/>
                    <a:p>
                      <a:pPr algn="ctr"/>
                      <a:r>
                        <a:rPr sz="1500">
                          <a:solidFill>
                            <a:srgbClr val="202020"/>
                          </a:solidFill>
                        </a:rPr>
                        <a:t>Train / Dev</a:t>
                      </a:r>
                    </a:p>
                  </a:txBody>
                  <a:tcPr>
                    <a:solidFill>
                      <a:srgbClr val="F2F4F7"/>
                    </a:solidFill>
                  </a:tcPr>
                </a:tc>
              </a:tr>
              <a:tr h="365760">
                <a:tc>
                  <a:txBody>
                    <a:bodyPr/>
                    <a:lstStyle/>
                    <a:p>
                      <a:pPr algn="l"/>
                      <a:r>
                        <a:rPr sz="1500">
                          <a:solidFill>
                            <a:srgbClr val="202020"/>
                          </a:solidFill>
                        </a:rPr>
                        <a:t>RAGTruth</a:t>
                      </a:r>
                    </a:p>
                  </a:txBody>
                  <a:tcPr>
                    <a:solidFill>
                      <a:srgbClr val="FFFFFF"/>
                    </a:solidFill>
                  </a:tcPr>
                </a:tc>
                <a:tc>
                  <a:txBody>
                    <a:bodyPr/>
                    <a:lstStyle/>
                    <a:p>
                      <a:pPr algn="ctr"/>
                      <a:r>
                        <a:rPr sz="1500">
                          <a:solidFill>
                            <a:srgbClr val="202020"/>
                          </a:solidFill>
                        </a:rPr>
                        <a:t>End-to-end hallucination evaluation</a:t>
                      </a:r>
                    </a:p>
                  </a:txBody>
                  <a:tcPr>
                    <a:solidFill>
                      <a:srgbClr val="FFFFFF"/>
                    </a:solidFill>
                  </a:tcPr>
                </a:tc>
                <a:tc>
                  <a:txBody>
                    <a:bodyPr/>
                    <a:lstStyle/>
                    <a:p>
                      <a:pPr algn="ctr"/>
                      <a:r>
                        <a:rPr sz="1500">
                          <a:solidFill>
                            <a:srgbClr val="202020"/>
                          </a:solidFill>
                        </a:rPr>
                        <a:t>Held-out TEST (never trained on)</a:t>
                      </a:r>
                    </a:p>
                  </a:txBody>
                  <a:tcPr>
                    <a:solidFill>
                      <a:srgbClr val="FFFFFF"/>
                    </a:solidFill>
                  </a:tcPr>
                </a:tc>
              </a:tr>
              <a:tr h="365760">
                <a:tc>
                  <a:txBody>
                    <a:bodyPr/>
                    <a:lstStyle/>
                    <a:p>
                      <a:pPr algn="l"/>
                      <a:r>
                        <a:rPr sz="1500">
                          <a:solidFill>
                            <a:srgbClr val="202020"/>
                          </a:solidFill>
                        </a:rPr>
                        <a:t>TruthfulQA</a:t>
                      </a:r>
                    </a:p>
                  </a:txBody>
                  <a:tcPr>
                    <a:solidFill>
                      <a:srgbClr val="F2F4F7"/>
                    </a:solidFill>
                  </a:tcPr>
                </a:tc>
                <a:tc>
                  <a:txBody>
                    <a:bodyPr/>
                    <a:lstStyle/>
                    <a:p>
                      <a:pPr algn="ctr"/>
                      <a:r>
                        <a:rPr sz="1500">
                          <a:solidFill>
                            <a:srgbClr val="202020"/>
                          </a:solidFill>
                        </a:rPr>
                        <a:t>Truthfulness evaluation</a:t>
                      </a:r>
                    </a:p>
                  </a:txBody>
                  <a:tcPr>
                    <a:solidFill>
                      <a:srgbClr val="F2F4F7"/>
                    </a:solidFill>
                  </a:tcPr>
                </a:tc>
                <a:tc>
                  <a:txBody>
                    <a:bodyPr/>
                    <a:lstStyle/>
                    <a:p>
                      <a:pPr algn="ctr"/>
                      <a:r>
                        <a:rPr sz="1500">
                          <a:solidFill>
                            <a:srgbClr val="202020"/>
                          </a:solidFill>
                        </a:rPr>
                        <a:t>Evaluation-only</a:t>
                      </a:r>
                    </a:p>
                  </a:txBody>
                  <a:tcPr>
                    <a:solidFill>
                      <a:srgbClr val="F2F4F7"/>
                    </a:solidFill>
                  </a:tcPr>
                </a:tc>
              </a:tr>
            </a:tbl>
          </a:graphicData>
        </a:graphic>
      </p:graphicFrame>
      <p:sp>
        <p:nvSpPr>
          <p:cNvPr id="5" name="TextBox 4"/>
          <p:cNvSpPr txBox="1"/>
          <p:nvPr/>
        </p:nvSpPr>
        <p:spPr>
          <a:xfrm>
            <a:off x="640080" y="3520440"/>
            <a:ext cx="10881360" cy="2926080"/>
          </a:xfrm>
          <a:prstGeom prst="rect">
            <a:avLst/>
          </a:prstGeom>
          <a:noFill/>
        </p:spPr>
        <p:txBody>
          <a:bodyPr wrap="square">
            <a:spAutoFit/>
          </a:bodyPr>
          <a:lstStyle/>
          <a:p>
            <a:pPr>
              <a:spcAft>
                <a:spcPts val="800"/>
              </a:spcAft>
            </a:pPr>
            <a:r>
              <a:rPr sz="1500">
                <a:solidFill>
                  <a:srgbClr val="202020"/>
                </a:solidFill>
              </a:rPr>
              <a:t>•  RAGTruth and TruthfulQA were NEVER used for training — enforced structurally, not just by convention.</a:t>
            </a:r>
          </a:p>
          <a:p>
            <a:pPr>
              <a:spcAft>
                <a:spcPts val="800"/>
              </a:spcAft>
            </a:pPr>
            <a:r>
              <a:rPr sz="1500">
                <a:solidFill>
                  <a:srgbClr val="202020"/>
                </a:solidFill>
              </a:rPr>
              <a:t>•  FEVER evidence sentences were resolved against acquired Wikipedia wiki_pages (no invented text).</a:t>
            </a:r>
          </a:p>
          <a:p>
            <a:pPr>
              <a:spcAft>
                <a:spcPts val="800"/>
              </a:spcAft>
            </a:pPr>
            <a:r>
              <a:rPr sz="1500">
                <a:solidFill>
                  <a:srgbClr val="202020"/>
                </a:solidFill>
              </a:rPr>
              <a:t>•  HaluEval records were normalized to a common (premise, claim, label) schema before pooling.</a:t>
            </a:r>
          </a:p>
          <a:p>
            <a:pPr>
              <a:spcAft>
                <a:spcPts val="800"/>
              </a:spcAft>
            </a:pPr>
            <a:r>
              <a:rPr sz="1500">
                <a:solidFill>
                  <a:srgbClr val="202020"/>
                </a:solidFill>
              </a:rPr>
              <a:t>•  TruthfulQA has no official train/test split — used entirely as an evaluation-only benchmark.</a:t>
            </a:r>
          </a:p>
          <a:p>
            <a:pPr>
              <a:spcAft>
                <a:spcPts val="800"/>
              </a:spcAft>
            </a:pPr>
            <a:r>
              <a:rPr sz="1500">
                <a:solidFill>
                  <a:srgbClr val="202020"/>
                </a:solidFill>
              </a:rPr>
              <a:t>•  RAGTruth's test split is source-document separated from any other split (no source document leaks across splits).</a:t>
            </a:r>
          </a:p>
        </p:txBody>
      </p:sp>
      <p:sp>
        <p:nvSpPr>
          <p:cNvPr id="6" name="TextBox 5"/>
          <p:cNvSpPr txBox="1"/>
          <p:nvPr/>
        </p:nvSpPr>
        <p:spPr>
          <a:xfrm>
            <a:off x="502920" y="6565392"/>
            <a:ext cx="11155680" cy="256032"/>
          </a:xfrm>
          <a:prstGeom prst="rect">
            <a:avLst/>
          </a:prstGeom>
          <a:noFill/>
        </p:spPr>
        <p:txBody>
          <a:bodyPr wrap="square">
            <a:spAutoFit/>
          </a:bodyPr>
          <a:lstStyle/>
          <a:p>
            <a:pPr algn="l"/>
            <a:r>
              <a:rPr sz="900" b="0" i="1">
                <a:solidFill>
                  <a:srgbClr val="5B6470"/>
                </a:solidFill>
              </a:rPr>
              <a:t>ClaimGuard — Datasets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960120"/>
          </a:xfrm>
          <a:prstGeom prst="rect">
            <a:avLst/>
          </a:prstGeom>
          <a:noFill/>
        </p:spPr>
        <p:txBody>
          <a:bodyPr wrap="square">
            <a:spAutoFit/>
          </a:bodyPr>
          <a:lstStyle/>
          <a:p>
            <a:r>
              <a:rPr sz="2800" b="1">
                <a:solidFill>
                  <a:srgbClr val="1F3A5F"/>
                </a:solidFill>
              </a:rPr>
              <a:t>Data Integrity and Contamination Control</a:t>
            </a:r>
          </a:p>
        </p:txBody>
      </p:sp>
      <p:sp>
        <p:nvSpPr>
          <p:cNvPr id="3" name="Rectangle 2"/>
          <p:cNvSpPr/>
          <p:nvPr/>
        </p:nvSpPr>
        <p:spPr>
          <a:xfrm>
            <a:off x="502920" y="1078992"/>
            <a:ext cx="11155680" cy="279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lide7_contamination.png"/>
          <p:cNvPicPr>
            <a:picLocks noChangeAspect="1"/>
          </p:cNvPicPr>
          <p:nvPr/>
        </p:nvPicPr>
        <p:blipFill>
          <a:blip r:embed="rId2"/>
          <a:stretch>
            <a:fillRect/>
          </a:stretch>
        </p:blipFill>
        <p:spPr>
          <a:xfrm>
            <a:off x="1965960" y="1280160"/>
            <a:ext cx="8229600" cy="3291840"/>
          </a:xfrm>
          <a:prstGeom prst="rect">
            <a:avLst/>
          </a:prstGeom>
        </p:spPr>
      </p:pic>
      <p:sp>
        <p:nvSpPr>
          <p:cNvPr id="5" name="TextBox 4"/>
          <p:cNvSpPr txBox="1"/>
          <p:nvPr/>
        </p:nvSpPr>
        <p:spPr>
          <a:xfrm>
            <a:off x="640080" y="4846320"/>
            <a:ext cx="10881360" cy="1554480"/>
          </a:xfrm>
          <a:prstGeom prst="rect">
            <a:avLst/>
          </a:prstGeom>
          <a:noFill/>
        </p:spPr>
        <p:txBody>
          <a:bodyPr wrap="square">
            <a:spAutoFit/>
          </a:bodyPr>
          <a:lstStyle/>
          <a:p>
            <a:pPr>
              <a:spcAft>
                <a:spcPts val="800"/>
              </a:spcAft>
            </a:pPr>
            <a:r>
              <a:rPr sz="1500">
                <a:solidFill>
                  <a:srgbClr val="202020"/>
                </a:solidFill>
              </a:rPr>
              <a:t>•  AST-based import-exclusion guards + behavioral sentinel tests confirm gold labels never reach inference.</a:t>
            </a:r>
          </a:p>
          <a:p>
            <a:pPr>
              <a:spcAft>
                <a:spcPts val="800"/>
              </a:spcAft>
            </a:pPr>
            <a:r>
              <a:rPr sz="1500">
                <a:solidFill>
                  <a:srgbClr val="202020"/>
                </a:solidFill>
              </a:rPr>
              <a:t>•  Source-level train/test separation verified directly, not assumed.</a:t>
            </a:r>
          </a:p>
          <a:p>
            <a:pPr>
              <a:spcAft>
                <a:spcPts val="800"/>
              </a:spcAft>
            </a:pPr>
            <a:r>
              <a:rPr sz="1500">
                <a:solidFill>
                  <a:srgbClr val="202020"/>
                </a:solidFill>
              </a:rPr>
              <a:t>•  Deterministic evaluation: identical inputs reproduce identical outputs, re-checked after every major run.</a:t>
            </a:r>
          </a:p>
        </p:txBody>
      </p:sp>
      <p:sp>
        <p:nvSpPr>
          <p:cNvPr id="6" name="TextBox 5"/>
          <p:cNvSpPr txBox="1"/>
          <p:nvPr/>
        </p:nvSpPr>
        <p:spPr>
          <a:xfrm>
            <a:off x="502920" y="6565392"/>
            <a:ext cx="11155680" cy="256032"/>
          </a:xfrm>
          <a:prstGeom prst="rect">
            <a:avLst/>
          </a:prstGeom>
          <a:noFill/>
        </p:spPr>
        <p:txBody>
          <a:bodyPr wrap="square">
            <a:spAutoFit/>
          </a:bodyPr>
          <a:lstStyle/>
          <a:p>
            <a:pPr algn="l"/>
            <a:r>
              <a:rPr sz="900" b="0" i="1">
                <a:solidFill>
                  <a:srgbClr val="5B6470"/>
                </a:solidFill>
              </a:rPr>
              <a:t>ClaimGuard — Data Integrity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960120"/>
          </a:xfrm>
          <a:prstGeom prst="rect">
            <a:avLst/>
          </a:prstGeom>
          <a:noFill/>
        </p:spPr>
        <p:txBody>
          <a:bodyPr wrap="square">
            <a:spAutoFit/>
          </a:bodyPr>
          <a:lstStyle/>
          <a:p>
            <a:r>
              <a:rPr sz="2800" b="1">
                <a:solidFill>
                  <a:srgbClr val="1F3A5F"/>
                </a:solidFill>
              </a:rPr>
              <a:t>Binary NLI Verifier</a:t>
            </a:r>
          </a:p>
        </p:txBody>
      </p:sp>
      <p:sp>
        <p:nvSpPr>
          <p:cNvPr id="3" name="Rectangle 2"/>
          <p:cNvSpPr/>
          <p:nvPr/>
        </p:nvSpPr>
        <p:spPr>
          <a:xfrm>
            <a:off x="502920" y="1078992"/>
            <a:ext cx="11155680" cy="279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57200"/>
          </a:xfrm>
          <a:prstGeom prst="rect">
            <a:avLst/>
          </a:prstGeom>
          <a:noFill/>
        </p:spPr>
        <p:txBody>
          <a:bodyPr wrap="square">
            <a:spAutoFit/>
          </a:bodyPr>
          <a:lstStyle/>
          <a:p>
            <a:pPr algn="l"/>
            <a:r>
              <a:rPr sz="1700" b="1" i="0">
                <a:solidFill>
                  <a:srgbClr val="2F7A78"/>
                </a:solidFill>
              </a:rPr>
              <a:t>MoritzLaurer/DeBERTa-v3-large-mnli-fever-anli-ling-wanli</a:t>
            </a:r>
          </a:p>
        </p:txBody>
      </p:sp>
      <p:sp>
        <p:nvSpPr>
          <p:cNvPr id="5" name="TextBox 4"/>
          <p:cNvSpPr txBox="1"/>
          <p:nvPr/>
        </p:nvSpPr>
        <p:spPr>
          <a:xfrm>
            <a:off x="640080" y="1828800"/>
            <a:ext cx="6035040" cy="2743200"/>
          </a:xfrm>
          <a:prstGeom prst="rect">
            <a:avLst/>
          </a:prstGeom>
          <a:noFill/>
        </p:spPr>
        <p:txBody>
          <a:bodyPr wrap="square">
            <a:spAutoFit/>
          </a:bodyPr>
          <a:lstStyle/>
          <a:p>
            <a:pPr>
              <a:spcAft>
                <a:spcPts val="1200"/>
              </a:spcAft>
            </a:pPr>
            <a:r>
              <a:rPr sz="1550">
                <a:solidFill>
                  <a:srgbClr val="202020"/>
                </a:solidFill>
              </a:rPr>
              <a:t>•  435M parameters, binary entailment / contradiction classification head.</a:t>
            </a:r>
          </a:p>
          <a:p>
            <a:pPr>
              <a:spcAft>
                <a:spcPts val="1200"/>
              </a:spcAft>
            </a:pPr>
            <a:r>
              <a:rPr sz="1550">
                <a:solidFill>
                  <a:srgbClr val="202020"/>
                </a:solidFill>
              </a:rPr>
              <a:t>•  Trained on FEVER (resolved evidence + claim) and HaluEval (grounding context + response).</a:t>
            </a:r>
          </a:p>
          <a:p>
            <a:pPr>
              <a:spcAft>
                <a:spcPts val="1200"/>
              </a:spcAft>
            </a:pPr>
            <a:r>
              <a:rPr sz="1550">
                <a:solidFill>
                  <a:srgbClr val="202020"/>
                </a:solidFill>
              </a:rPr>
              <a:t>•  NO fabricated neutral-class examples — binary formulation chosen because no scientifically valid neutral-premise source was available for this project's constraints.</a:t>
            </a:r>
          </a:p>
        </p:txBody>
      </p:sp>
      <p:graphicFrame>
        <p:nvGraphicFramePr>
          <p:cNvPr id="6" name="Table 5"/>
          <p:cNvGraphicFramePr>
            <a:graphicFrameLocks noGrp="1"/>
          </p:cNvGraphicFramePr>
          <p:nvPr/>
        </p:nvGraphicFramePr>
        <p:xfrm>
          <a:off x="6949440" y="1828800"/>
          <a:ext cx="4572000" cy="1463040"/>
        </p:xfrm>
        <a:graphic>
          <a:graphicData uri="http://schemas.openxmlformats.org/drawingml/2006/table">
            <a:tbl>
              <a:tblPr firstRow="1" bandRow="1">
                <a:tableStyleId>{5C22544A-7EE6-4342-B048-85BDC9FD1C3A}</a:tableStyleId>
              </a:tblPr>
              <a:tblGrid>
                <a:gridCol w="2286000"/>
                <a:gridCol w="2286000"/>
              </a:tblGrid>
              <a:tr h="365760">
                <a:tc>
                  <a:txBody>
                    <a:bodyPr/>
                    <a:lstStyle/>
                    <a:p>
                      <a:pPr algn="ctr"/>
                      <a:r>
                        <a:rPr b="1" sz="1500">
                          <a:solidFill>
                            <a:srgbClr val="FFFFFF"/>
                          </a:solidFill>
                        </a:rPr>
                        <a:t>Metric</a:t>
                      </a:r>
                    </a:p>
                  </a:txBody>
                  <a:tcPr>
                    <a:solidFill>
                      <a:srgbClr val="1F3A5F"/>
                    </a:solidFill>
                  </a:tcPr>
                </a:tc>
                <a:tc>
                  <a:txBody>
                    <a:bodyPr/>
                    <a:lstStyle/>
                    <a:p>
                      <a:pPr algn="ctr"/>
                      <a:r>
                        <a:rPr b="1" sz="1500">
                          <a:solidFill>
                            <a:srgbClr val="FFFFFF"/>
                          </a:solidFill>
                        </a:rPr>
                        <a:t>Value</a:t>
                      </a:r>
                    </a:p>
                  </a:txBody>
                  <a:tcPr>
                    <a:solidFill>
                      <a:srgbClr val="1F3A5F"/>
                    </a:solidFill>
                  </a:tcPr>
                </a:tc>
              </a:tr>
              <a:tr h="365760">
                <a:tc>
                  <a:txBody>
                    <a:bodyPr/>
                    <a:lstStyle/>
                    <a:p>
                      <a:pPr algn="l"/>
                      <a:r>
                        <a:rPr sz="1500">
                          <a:solidFill>
                            <a:srgbClr val="202020"/>
                          </a:solidFill>
                        </a:rPr>
                        <a:t>Accuracy</a:t>
                      </a:r>
                    </a:p>
                  </a:txBody>
                  <a:tcPr>
                    <a:solidFill>
                      <a:srgbClr val="FFFFFF"/>
                    </a:solidFill>
                  </a:tcPr>
                </a:tc>
                <a:tc>
                  <a:txBody>
                    <a:bodyPr/>
                    <a:lstStyle/>
                    <a:p>
                      <a:pPr algn="ctr"/>
                      <a:r>
                        <a:rPr sz="1500">
                          <a:solidFill>
                            <a:srgbClr val="202020"/>
                          </a:solidFill>
                        </a:rPr>
                        <a:t>96.20%</a:t>
                      </a:r>
                    </a:p>
                  </a:txBody>
                  <a:tcPr>
                    <a:solidFill>
                      <a:srgbClr val="FFFFFF"/>
                    </a:solidFill>
                  </a:tcPr>
                </a:tc>
              </a:tr>
              <a:tr h="365760">
                <a:tc>
                  <a:txBody>
                    <a:bodyPr/>
                    <a:lstStyle/>
                    <a:p>
                      <a:pPr algn="l"/>
                      <a:r>
                        <a:rPr sz="1500">
                          <a:solidFill>
                            <a:srgbClr val="202020"/>
                          </a:solidFill>
                        </a:rPr>
                        <a:t>Macro F1</a:t>
                      </a:r>
                    </a:p>
                  </a:txBody>
                  <a:tcPr>
                    <a:solidFill>
                      <a:srgbClr val="F2F4F7"/>
                    </a:solidFill>
                  </a:tcPr>
                </a:tc>
                <a:tc>
                  <a:txBody>
                    <a:bodyPr/>
                    <a:lstStyle/>
                    <a:p>
                      <a:pPr algn="ctr"/>
                      <a:r>
                        <a:rPr sz="1500">
                          <a:solidFill>
                            <a:srgbClr val="202020"/>
                          </a:solidFill>
                        </a:rPr>
                        <a:t>95.85%</a:t>
                      </a:r>
                    </a:p>
                  </a:txBody>
                  <a:tcPr>
                    <a:solidFill>
                      <a:srgbClr val="F2F4F7"/>
                    </a:solidFill>
                  </a:tcPr>
                </a:tc>
              </a:tr>
              <a:tr h="365760">
                <a:tc>
                  <a:txBody>
                    <a:bodyPr/>
                    <a:lstStyle/>
                    <a:p>
                      <a:pPr algn="l"/>
                      <a:r>
                        <a:rPr sz="1500">
                          <a:solidFill>
                            <a:srgbClr val="202020"/>
                          </a:solidFill>
                        </a:rPr>
                        <a:t>Weighted F1</a:t>
                      </a:r>
                    </a:p>
                  </a:txBody>
                  <a:tcPr>
                    <a:solidFill>
                      <a:srgbClr val="FFFFFF"/>
                    </a:solidFill>
                  </a:tcPr>
                </a:tc>
                <a:tc>
                  <a:txBody>
                    <a:bodyPr/>
                    <a:lstStyle/>
                    <a:p>
                      <a:pPr algn="ctr"/>
                      <a:r>
                        <a:rPr sz="1500">
                          <a:solidFill>
                            <a:srgbClr val="202020"/>
                          </a:solidFill>
                        </a:rPr>
                        <a:t>96.21%</a:t>
                      </a:r>
                    </a:p>
                  </a:txBody>
                  <a:tcPr>
                    <a:solidFill>
                      <a:srgbClr val="FFFFFF"/>
                    </a:solidFill>
                  </a:tcPr>
                </a:tc>
              </a:tr>
            </a:tbl>
          </a:graphicData>
        </a:graphic>
      </p:graphicFrame>
      <p:sp>
        <p:nvSpPr>
          <p:cNvPr id="7" name="TextBox 6"/>
          <p:cNvSpPr txBox="1"/>
          <p:nvPr/>
        </p:nvSpPr>
        <p:spPr>
          <a:xfrm>
            <a:off x="6949440" y="3429000"/>
            <a:ext cx="4572000" cy="1005840"/>
          </a:xfrm>
          <a:prstGeom prst="rect">
            <a:avLst/>
          </a:prstGeom>
          <a:noFill/>
        </p:spPr>
        <p:txBody>
          <a:bodyPr wrap="square">
            <a:spAutoFit/>
          </a:bodyPr>
          <a:lstStyle/>
          <a:p>
            <a:pPr algn="l"/>
            <a:r>
              <a:rPr sz="1300" b="1" i="1">
                <a:solidFill>
                  <a:srgbClr val="B3453C"/>
                </a:solidFill>
              </a:rPr>
              <a:t>Gold-premise development evaluation — this is NOT the same as end-to-end pipeline performance (see Slide 12).</a:t>
            </a:r>
          </a:p>
        </p:txBody>
      </p:sp>
      <p:sp>
        <p:nvSpPr>
          <p:cNvPr id="8" name="TextBox 7"/>
          <p:cNvSpPr txBox="1"/>
          <p:nvPr/>
        </p:nvSpPr>
        <p:spPr>
          <a:xfrm>
            <a:off x="502920" y="6565392"/>
            <a:ext cx="11155680" cy="256032"/>
          </a:xfrm>
          <a:prstGeom prst="rect">
            <a:avLst/>
          </a:prstGeom>
          <a:noFill/>
        </p:spPr>
        <p:txBody>
          <a:bodyPr wrap="square">
            <a:spAutoFit/>
          </a:bodyPr>
          <a:lstStyle/>
          <a:p>
            <a:pPr algn="l"/>
            <a:r>
              <a:rPr sz="900" b="0" i="1">
                <a:solidFill>
                  <a:srgbClr val="5B6470"/>
                </a:solidFill>
              </a:rPr>
              <a:t>ClaimGuard — Verifier Development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960120"/>
          </a:xfrm>
          <a:prstGeom prst="rect">
            <a:avLst/>
          </a:prstGeom>
          <a:noFill/>
        </p:spPr>
        <p:txBody>
          <a:bodyPr wrap="square">
            <a:spAutoFit/>
          </a:bodyPr>
          <a:lstStyle/>
          <a:p>
            <a:r>
              <a:rPr sz="2800" b="1">
                <a:solidFill>
                  <a:srgbClr val="1F3A5F"/>
                </a:solidFill>
              </a:rPr>
              <a:t>Evidence Retrieval Pipeline</a:t>
            </a:r>
          </a:p>
        </p:txBody>
      </p:sp>
      <p:sp>
        <p:nvSpPr>
          <p:cNvPr id="3" name="Rectangle 2"/>
          <p:cNvSpPr/>
          <p:nvPr/>
        </p:nvSpPr>
        <p:spPr>
          <a:xfrm>
            <a:off x="502920" y="1078992"/>
            <a:ext cx="11155680" cy="279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lide9_retrieval_pipeline.png"/>
          <p:cNvPicPr>
            <a:picLocks noChangeAspect="1"/>
          </p:cNvPicPr>
          <p:nvPr/>
        </p:nvPicPr>
        <p:blipFill>
          <a:blip r:embed="rId2"/>
          <a:stretch>
            <a:fillRect/>
          </a:stretch>
        </p:blipFill>
        <p:spPr>
          <a:xfrm>
            <a:off x="2225040" y="1234440"/>
            <a:ext cx="7711440" cy="1051560"/>
          </a:xfrm>
          <a:prstGeom prst="rect">
            <a:avLst/>
          </a:prstGeom>
        </p:spPr>
      </p:pic>
      <p:graphicFrame>
        <p:nvGraphicFramePr>
          <p:cNvPr id="5" name="Chart 4"/>
          <p:cNvGraphicFramePr>
            <a:graphicFrameLocks noGrp="1"/>
          </p:cNvGraphicFramePr>
          <p:nvPr/>
        </p:nvGraphicFramePr>
        <p:xfrm>
          <a:off x="640080" y="2514600"/>
          <a:ext cx="10881360" cy="3749039"/>
        </p:xfrm>
        <a:graphic>
          <a:graphicData uri="http://schemas.openxmlformats.org/drawingml/2006/chart">
            <c:chart xmlns:c="http://schemas.openxmlformats.org/drawingml/2006/chart" r:id="rId3"/>
          </a:graphicData>
        </a:graphic>
      </p:graphicFrame>
      <p:sp>
        <p:nvSpPr>
          <p:cNvPr id="6" name="TextBox 5"/>
          <p:cNvSpPr txBox="1"/>
          <p:nvPr/>
        </p:nvSpPr>
        <p:spPr>
          <a:xfrm>
            <a:off x="502920" y="6565392"/>
            <a:ext cx="11155680" cy="256032"/>
          </a:xfrm>
          <a:prstGeom prst="rect">
            <a:avLst/>
          </a:prstGeom>
          <a:noFill/>
        </p:spPr>
        <p:txBody>
          <a:bodyPr wrap="square">
            <a:spAutoFit/>
          </a:bodyPr>
          <a:lstStyle/>
          <a:p>
            <a:pPr algn="l"/>
            <a:r>
              <a:rPr sz="900" b="0" i="1">
                <a:solidFill>
                  <a:srgbClr val="5B6470"/>
                </a:solidFill>
              </a:rPr>
              <a:t>ClaimGuard — Retrieval &amp; Reranking  |  Reranking hurts Top-1 but improves Top-5/Top-10 — not universally better.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960120"/>
          </a:xfrm>
          <a:prstGeom prst="rect">
            <a:avLst/>
          </a:prstGeom>
          <a:noFill/>
        </p:spPr>
        <p:txBody>
          <a:bodyPr wrap="square">
            <a:spAutoFit/>
          </a:bodyPr>
          <a:lstStyle/>
          <a:p>
            <a:r>
              <a:rPr sz="2800" b="1">
                <a:solidFill>
                  <a:srgbClr val="1F3A5F"/>
                </a:solidFill>
              </a:rPr>
              <a:t>Retrieval + Reranking + Verification</a:t>
            </a:r>
          </a:p>
        </p:txBody>
      </p:sp>
      <p:sp>
        <p:nvSpPr>
          <p:cNvPr id="3" name="Rectangle 2"/>
          <p:cNvSpPr/>
          <p:nvPr/>
        </p:nvSpPr>
        <p:spPr>
          <a:xfrm>
            <a:off x="502920" y="1078992"/>
            <a:ext cx="11155680" cy="279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40080" y="1280160"/>
          <a:ext cx="5303520" cy="2377440"/>
        </p:xfrm>
        <a:graphic>
          <a:graphicData uri="http://schemas.openxmlformats.org/drawingml/2006/table">
            <a:tbl>
              <a:tblPr firstRow="1" bandRow="1">
                <a:tableStyleId>{5C22544A-7EE6-4342-B048-85BDC9FD1C3A}</a:tableStyleId>
              </a:tblPr>
              <a:tblGrid>
                <a:gridCol w="2651760"/>
                <a:gridCol w="2651760"/>
              </a:tblGrid>
              <a:tr h="475488">
                <a:tc>
                  <a:txBody>
                    <a:bodyPr/>
                    <a:lstStyle/>
                    <a:p>
                      <a:pPr algn="ctr"/>
                      <a:r>
                        <a:rPr b="1" sz="1450">
                          <a:solidFill>
                            <a:srgbClr val="FFFFFF"/>
                          </a:solidFill>
                        </a:rPr>
                        <a:t>Integrated Metric</a:t>
                      </a:r>
                    </a:p>
                  </a:txBody>
                  <a:tcPr>
                    <a:solidFill>
                      <a:srgbClr val="1F3A5F"/>
                    </a:solidFill>
                  </a:tcPr>
                </a:tc>
                <a:tc>
                  <a:txBody>
                    <a:bodyPr/>
                    <a:lstStyle/>
                    <a:p>
                      <a:pPr algn="ctr"/>
                      <a:r>
                        <a:rPr b="1" sz="1450">
                          <a:solidFill>
                            <a:srgbClr val="FFFFFF"/>
                          </a:solidFill>
                        </a:rPr>
                        <a:t>Value</a:t>
                      </a:r>
                    </a:p>
                  </a:txBody>
                  <a:tcPr>
                    <a:solidFill>
                      <a:srgbClr val="1F3A5F"/>
                    </a:solidFill>
                  </a:tcPr>
                </a:tc>
              </a:tr>
              <a:tr h="475488">
                <a:tc>
                  <a:txBody>
                    <a:bodyPr/>
                    <a:lstStyle/>
                    <a:p>
                      <a:pPr algn="l"/>
                      <a:r>
                        <a:rPr sz="1450">
                          <a:solidFill>
                            <a:srgbClr val="202020"/>
                          </a:solidFill>
                        </a:rPr>
                        <a:t>Verifier-selected evidence hit rate</a:t>
                      </a:r>
                    </a:p>
                  </a:txBody>
                  <a:tcPr>
                    <a:solidFill>
                      <a:srgbClr val="FFFFFF"/>
                    </a:solidFill>
                  </a:tcPr>
                </a:tc>
                <a:tc>
                  <a:txBody>
                    <a:bodyPr/>
                    <a:lstStyle/>
                    <a:p>
                      <a:pPr algn="ctr"/>
                      <a:r>
                        <a:rPr sz="1450">
                          <a:solidFill>
                            <a:srgbClr val="202020"/>
                          </a:solidFill>
                        </a:rPr>
                        <a:t>31.80%</a:t>
                      </a:r>
                    </a:p>
                  </a:txBody>
                  <a:tcPr>
                    <a:solidFill>
                      <a:srgbClr val="FFFFFF"/>
                    </a:solidFill>
                  </a:tcPr>
                </a:tc>
              </a:tr>
              <a:tr h="475488">
                <a:tc>
                  <a:txBody>
                    <a:bodyPr/>
                    <a:lstStyle/>
                    <a:p>
                      <a:pPr algn="l"/>
                      <a:r>
                        <a:rPr sz="1450">
                          <a:solidFill>
                            <a:srgbClr val="202020"/>
                          </a:solidFill>
                        </a:rPr>
                        <a:t>Verifier classification accuracy</a:t>
                      </a:r>
                    </a:p>
                  </a:txBody>
                  <a:tcPr>
                    <a:solidFill>
                      <a:srgbClr val="F2F4F7"/>
                    </a:solidFill>
                  </a:tcPr>
                </a:tc>
                <a:tc>
                  <a:txBody>
                    <a:bodyPr/>
                    <a:lstStyle/>
                    <a:p>
                      <a:pPr algn="ctr"/>
                      <a:r>
                        <a:rPr sz="1450">
                          <a:solidFill>
                            <a:srgbClr val="202020"/>
                          </a:solidFill>
                        </a:rPr>
                        <a:t>88.60%</a:t>
                      </a:r>
                    </a:p>
                  </a:txBody>
                  <a:tcPr>
                    <a:solidFill>
                      <a:srgbClr val="F2F4F7"/>
                    </a:solidFill>
                  </a:tcPr>
                </a:tc>
              </a:tr>
              <a:tr h="475488">
                <a:tc>
                  <a:txBody>
                    <a:bodyPr/>
                    <a:lstStyle/>
                    <a:p>
                      <a:pPr algn="l"/>
                      <a:r>
                        <a:rPr sz="1450">
                          <a:solidFill>
                            <a:srgbClr val="202020"/>
                          </a:solidFill>
                        </a:rPr>
                        <a:t>Entailment F1</a:t>
                      </a:r>
                    </a:p>
                  </a:txBody>
                  <a:tcPr>
                    <a:solidFill>
                      <a:srgbClr val="FFFFFF"/>
                    </a:solidFill>
                  </a:tcPr>
                </a:tc>
                <a:tc>
                  <a:txBody>
                    <a:bodyPr/>
                    <a:lstStyle/>
                    <a:p>
                      <a:pPr algn="ctr"/>
                      <a:r>
                        <a:rPr sz="1450">
                          <a:solidFill>
                            <a:srgbClr val="202020"/>
                          </a:solidFill>
                        </a:rPr>
                        <a:t>92.85%</a:t>
                      </a:r>
                    </a:p>
                  </a:txBody>
                  <a:tcPr>
                    <a:solidFill>
                      <a:srgbClr val="FFFFFF"/>
                    </a:solidFill>
                  </a:tcPr>
                </a:tc>
              </a:tr>
              <a:tr h="475488">
                <a:tc>
                  <a:txBody>
                    <a:bodyPr/>
                    <a:lstStyle/>
                    <a:p>
                      <a:pPr algn="l"/>
                      <a:r>
                        <a:rPr sz="1450">
                          <a:solidFill>
                            <a:srgbClr val="202020"/>
                          </a:solidFill>
                        </a:rPr>
                        <a:t>Contradiction F1</a:t>
                      </a:r>
                    </a:p>
                  </a:txBody>
                  <a:tcPr>
                    <a:solidFill>
                      <a:srgbClr val="F2F4F7"/>
                    </a:solidFill>
                  </a:tcPr>
                </a:tc>
                <a:tc>
                  <a:txBody>
                    <a:bodyPr/>
                    <a:lstStyle/>
                    <a:p>
                      <a:pPr algn="ctr"/>
                      <a:r>
                        <a:rPr sz="1450">
                          <a:solidFill>
                            <a:srgbClr val="202020"/>
                          </a:solidFill>
                        </a:rPr>
                        <a:t>71.92%</a:t>
                      </a:r>
                    </a:p>
                  </a:txBody>
                  <a:tcPr>
                    <a:solidFill>
                      <a:srgbClr val="F2F4F7"/>
                    </a:solidFill>
                  </a:tcPr>
                </a:tc>
              </a:tr>
            </a:tbl>
          </a:graphicData>
        </a:graphic>
      </p:graphicFrame>
      <p:sp>
        <p:nvSpPr>
          <p:cNvPr id="5" name="TextBox 4"/>
          <p:cNvSpPr txBox="1"/>
          <p:nvPr/>
        </p:nvSpPr>
        <p:spPr>
          <a:xfrm>
            <a:off x="640080" y="3794760"/>
            <a:ext cx="5303520" cy="1005840"/>
          </a:xfrm>
          <a:prstGeom prst="rect">
            <a:avLst/>
          </a:prstGeom>
          <a:noFill/>
        </p:spPr>
        <p:txBody>
          <a:bodyPr wrap="square">
            <a:spAutoFit/>
          </a:bodyPr>
          <a:lstStyle/>
          <a:p>
            <a:pPr algn="l"/>
            <a:r>
              <a:rPr sz="1250" b="1" i="1">
                <a:solidFill>
                  <a:srgbClr val="B3453C"/>
                </a:solidFill>
              </a:rPr>
              <a:t>NOT comparable to Slide 8's gold-premise 95.85% macro F1 — this includes retrieval/reranking error propagation by construction.</a:t>
            </a:r>
          </a:p>
        </p:txBody>
      </p:sp>
      <p:graphicFrame>
        <p:nvGraphicFramePr>
          <p:cNvPr id="6" name="Chart 5"/>
          <p:cNvGraphicFramePr>
            <a:graphicFrameLocks noGrp="1"/>
          </p:cNvGraphicFramePr>
          <p:nvPr/>
        </p:nvGraphicFramePr>
        <p:xfrm>
          <a:off x="6217920" y="1280160"/>
          <a:ext cx="5394960" cy="3840480"/>
        </p:xfrm>
        <a:graphic>
          <a:graphicData uri="http://schemas.openxmlformats.org/drawingml/2006/chart">
            <c:chart xmlns:c="http://schemas.openxmlformats.org/drawingml/2006/chart" r:id="rId2"/>
          </a:graphicData>
        </a:graphic>
      </p:graphicFrame>
      <p:sp>
        <p:nvSpPr>
          <p:cNvPr id="7" name="TextBox 6"/>
          <p:cNvSpPr txBox="1"/>
          <p:nvPr/>
        </p:nvSpPr>
        <p:spPr>
          <a:xfrm>
            <a:off x="640080" y="5212080"/>
            <a:ext cx="10972800" cy="822960"/>
          </a:xfrm>
          <a:prstGeom prst="rect">
            <a:avLst/>
          </a:prstGeom>
          <a:noFill/>
        </p:spPr>
        <p:txBody>
          <a:bodyPr wrap="square">
            <a:spAutoFit/>
          </a:bodyPr>
          <a:lstStyle/>
          <a:p>
            <a:pPr algn="l"/>
            <a:r>
              <a:rPr sz="1400" b="1" i="0">
                <a:solidFill>
                  <a:srgbClr val="C97A2B"/>
                </a:solidFill>
              </a:rPr>
              <a:t>Verifier shows high confidence even on NON-GOLD evidence — this is the first sign of the discrimination problem explored in Slides 13 and 16.</a:t>
            </a:r>
          </a:p>
        </p:txBody>
      </p:sp>
      <p:sp>
        <p:nvSpPr>
          <p:cNvPr id="8" name="TextBox 7"/>
          <p:cNvSpPr txBox="1"/>
          <p:nvPr/>
        </p:nvSpPr>
        <p:spPr>
          <a:xfrm>
            <a:off x="502920" y="6565392"/>
            <a:ext cx="11155680" cy="256032"/>
          </a:xfrm>
          <a:prstGeom prst="rect">
            <a:avLst/>
          </a:prstGeom>
          <a:noFill/>
        </p:spPr>
        <p:txBody>
          <a:bodyPr wrap="square">
            <a:spAutoFit/>
          </a:bodyPr>
          <a:lstStyle/>
          <a:p>
            <a:pPr algn="l"/>
            <a:r>
              <a:rPr sz="900" b="0" i="1">
                <a:solidFill>
                  <a:srgbClr val="5B6470"/>
                </a:solidFill>
              </a:rPr>
              <a:t>ClaimGuard — Integrated Pipeline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960120"/>
          </a:xfrm>
          <a:prstGeom prst="rect">
            <a:avLst/>
          </a:prstGeom>
          <a:noFill/>
        </p:spPr>
        <p:txBody>
          <a:bodyPr wrap="square">
            <a:spAutoFit/>
          </a:bodyPr>
          <a:lstStyle/>
          <a:p>
            <a:r>
              <a:rPr sz="2800" b="1">
                <a:solidFill>
                  <a:srgbClr val="1F3A5F"/>
                </a:solidFill>
              </a:rPr>
              <a:t>From Verification to Correction</a:t>
            </a:r>
          </a:p>
        </p:txBody>
      </p:sp>
      <p:sp>
        <p:nvSpPr>
          <p:cNvPr id="3" name="Rectangle 2"/>
          <p:cNvSpPr/>
          <p:nvPr/>
        </p:nvSpPr>
        <p:spPr>
          <a:xfrm>
            <a:off x="502920" y="1078992"/>
            <a:ext cx="11155680" cy="279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lide11_decision_correction.png"/>
          <p:cNvPicPr>
            <a:picLocks noChangeAspect="1"/>
          </p:cNvPicPr>
          <p:nvPr/>
        </p:nvPicPr>
        <p:blipFill>
          <a:blip r:embed="rId2"/>
          <a:stretch>
            <a:fillRect/>
          </a:stretch>
        </p:blipFill>
        <p:spPr>
          <a:xfrm>
            <a:off x="2191148" y="1188720"/>
            <a:ext cx="7779223" cy="5486400"/>
          </a:xfrm>
          <a:prstGeom prst="rect">
            <a:avLst/>
          </a:prstGeom>
        </p:spPr>
      </p:pic>
      <p:sp>
        <p:nvSpPr>
          <p:cNvPr id="5" name="TextBox 4"/>
          <p:cNvSpPr txBox="1"/>
          <p:nvPr/>
        </p:nvSpPr>
        <p:spPr>
          <a:xfrm>
            <a:off x="502920" y="6565392"/>
            <a:ext cx="11155680" cy="256032"/>
          </a:xfrm>
          <a:prstGeom prst="rect">
            <a:avLst/>
          </a:prstGeom>
          <a:noFill/>
        </p:spPr>
        <p:txBody>
          <a:bodyPr wrap="square">
            <a:spAutoFit/>
          </a:bodyPr>
          <a:lstStyle/>
          <a:p>
            <a:pPr algn="l"/>
            <a:r>
              <a:rPr sz="900" b="0" i="1">
                <a:solidFill>
                  <a:srgbClr val="5B6470"/>
                </a:solidFill>
              </a:rPr>
              <a:t>ClaimGuard — Decision Policy &amp; Correction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960120"/>
          </a:xfrm>
          <a:prstGeom prst="rect">
            <a:avLst/>
          </a:prstGeom>
          <a:noFill/>
        </p:spPr>
        <p:txBody>
          <a:bodyPr wrap="square">
            <a:spAutoFit/>
          </a:bodyPr>
          <a:lstStyle/>
          <a:p>
            <a:r>
              <a:rPr sz="2800" b="1">
                <a:solidFill>
                  <a:srgbClr val="1F3A5F"/>
                </a:solidFill>
              </a:rPr>
              <a:t>RAGTruth: End-to-End Evaluation</a:t>
            </a:r>
          </a:p>
        </p:txBody>
      </p:sp>
      <p:sp>
        <p:nvSpPr>
          <p:cNvPr id="3" name="Rectangle 2"/>
          <p:cNvSpPr/>
          <p:nvPr/>
        </p:nvSpPr>
        <p:spPr>
          <a:xfrm>
            <a:off x="502920" y="1078992"/>
            <a:ext cx="11155680" cy="279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Chart 3"/>
          <p:cNvGraphicFramePr>
            <a:graphicFrameLocks noGrp="1"/>
          </p:cNvGraphicFramePr>
          <p:nvPr/>
        </p:nvGraphicFramePr>
        <p:xfrm>
          <a:off x="502920" y="1234440"/>
          <a:ext cx="6126480" cy="365760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6720840" y="1234440"/>
          <a:ext cx="5120640" cy="3657600"/>
        </p:xfrm>
        <a:graphic>
          <a:graphicData uri="http://schemas.openxmlformats.org/drawingml/2006/chart">
            <c:chart xmlns:c="http://schemas.openxmlformats.org/drawingml/2006/chart" r:id="rId3"/>
          </a:graphicData>
        </a:graphic>
      </p:graphicFrame>
      <p:sp>
        <p:nvSpPr>
          <p:cNvPr id="6" name="TextBox 5"/>
          <p:cNvSpPr txBox="1"/>
          <p:nvPr/>
        </p:nvSpPr>
        <p:spPr>
          <a:xfrm>
            <a:off x="502920" y="5074920"/>
            <a:ext cx="11338560" cy="1097280"/>
          </a:xfrm>
          <a:prstGeom prst="rect">
            <a:avLst/>
          </a:prstGeom>
          <a:noFill/>
        </p:spPr>
        <p:txBody>
          <a:bodyPr wrap="square">
            <a:spAutoFit/>
          </a:bodyPr>
          <a:lstStyle/>
          <a:p>
            <a:pPr algn="ctr"/>
            <a:r>
              <a:rPr sz="1700" b="1" i="0">
                <a:solidFill>
                  <a:srgbClr val="B3453C"/>
                </a:solidFill>
              </a:rPr>
              <a:t>ClaimGuard does NOT demonstrate reliable hallucination detection on RAGTruth. Majority baseline (65.1%) &gt; Attempt 0 (55.9%) &gt; Final (58.0%).</a:t>
            </a:r>
          </a:p>
        </p:txBody>
      </p:sp>
      <p:sp>
        <p:nvSpPr>
          <p:cNvPr id="7" name="TextBox 6"/>
          <p:cNvSpPr txBox="1"/>
          <p:nvPr/>
        </p:nvSpPr>
        <p:spPr>
          <a:xfrm>
            <a:off x="502920" y="6565392"/>
            <a:ext cx="11155680" cy="256032"/>
          </a:xfrm>
          <a:prstGeom prst="rect">
            <a:avLst/>
          </a:prstGeom>
          <a:noFill/>
        </p:spPr>
        <p:txBody>
          <a:bodyPr wrap="square">
            <a:spAutoFit/>
          </a:bodyPr>
          <a:lstStyle/>
          <a:p>
            <a:pPr algn="l"/>
            <a:r>
              <a:rPr sz="900" b="0" i="1">
                <a:solidFill>
                  <a:srgbClr val="5B6470"/>
                </a:solidFill>
              </a:rPr>
              <a:t>ClaimGuard — RAGTruth Results  |  Macro F1 tracks accuracy closely at both attempt0 (0.559) and final (0.580).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960120"/>
          </a:xfrm>
          <a:prstGeom prst="rect">
            <a:avLst/>
          </a:prstGeom>
          <a:noFill/>
        </p:spPr>
        <p:txBody>
          <a:bodyPr wrap="square">
            <a:spAutoFit/>
          </a:bodyPr>
          <a:lstStyle/>
          <a:p>
            <a:r>
              <a:rPr sz="2800" b="1">
                <a:solidFill>
                  <a:srgbClr val="1F3A5F"/>
                </a:solidFill>
              </a:rPr>
              <a:t>RAGTruth Failure: Evidence-Domain Mismatch</a:t>
            </a:r>
          </a:p>
        </p:txBody>
      </p:sp>
      <p:sp>
        <p:nvSpPr>
          <p:cNvPr id="3" name="Rectangle 2"/>
          <p:cNvSpPr/>
          <p:nvPr/>
        </p:nvSpPr>
        <p:spPr>
          <a:xfrm>
            <a:off x="502920" y="1078992"/>
            <a:ext cx="11155680" cy="279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lide13_domain_mismatch.png"/>
          <p:cNvPicPr>
            <a:picLocks noChangeAspect="1"/>
          </p:cNvPicPr>
          <p:nvPr/>
        </p:nvPicPr>
        <p:blipFill>
          <a:blip r:embed="rId2"/>
          <a:stretch>
            <a:fillRect/>
          </a:stretch>
        </p:blipFill>
        <p:spPr>
          <a:xfrm>
            <a:off x="992566" y="1188720"/>
            <a:ext cx="10176387" cy="5486400"/>
          </a:xfrm>
          <a:prstGeom prst="rect">
            <a:avLst/>
          </a:prstGeom>
        </p:spPr>
      </p:pic>
      <p:sp>
        <p:nvSpPr>
          <p:cNvPr id="5" name="TextBox 4"/>
          <p:cNvSpPr txBox="1"/>
          <p:nvPr/>
        </p:nvSpPr>
        <p:spPr>
          <a:xfrm>
            <a:off x="502920" y="6565392"/>
            <a:ext cx="11155680" cy="256032"/>
          </a:xfrm>
          <a:prstGeom prst="rect">
            <a:avLst/>
          </a:prstGeom>
          <a:noFill/>
        </p:spPr>
        <p:txBody>
          <a:bodyPr wrap="square">
            <a:spAutoFit/>
          </a:bodyPr>
          <a:lstStyle/>
          <a:p>
            <a:pPr algn="l"/>
            <a:r>
              <a:rPr sz="900" b="0" i="1">
                <a:solidFill>
                  <a:srgbClr val="5B6470"/>
                </a:solidFill>
              </a:rPr>
              <a:t>ClaimGuard — Failure Diagnosis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960120"/>
          </a:xfrm>
          <a:prstGeom prst="rect">
            <a:avLst/>
          </a:prstGeom>
          <a:noFill/>
        </p:spPr>
        <p:txBody>
          <a:bodyPr wrap="square">
            <a:spAutoFit/>
          </a:bodyPr>
          <a:lstStyle/>
          <a:p>
            <a:r>
              <a:rPr sz="2800" b="1">
                <a:solidFill>
                  <a:srgbClr val="1F3A5F"/>
                </a:solidFill>
              </a:rPr>
              <a:t>TruthfulQA Evaluation</a:t>
            </a:r>
          </a:p>
        </p:txBody>
      </p:sp>
      <p:sp>
        <p:nvSpPr>
          <p:cNvPr id="3" name="Rectangle 2"/>
          <p:cNvSpPr/>
          <p:nvPr/>
        </p:nvSpPr>
        <p:spPr>
          <a:xfrm>
            <a:off x="502920" y="1078992"/>
            <a:ext cx="11155680" cy="279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57200"/>
          </a:xfrm>
          <a:prstGeom prst="rect">
            <a:avLst/>
          </a:prstGeom>
          <a:noFill/>
        </p:spPr>
        <p:txBody>
          <a:bodyPr wrap="square">
            <a:spAutoFit/>
          </a:bodyPr>
          <a:lstStyle/>
          <a:p>
            <a:pPr algn="l"/>
            <a:r>
              <a:rPr sz="1600" b="1" i="0">
                <a:solidFill>
                  <a:srgbClr val="2F7A78"/>
                </a:solidFill>
              </a:rPr>
              <a:t>790 questions across 37 categories</a:t>
            </a:r>
          </a:p>
        </p:txBody>
      </p:sp>
      <p:graphicFrame>
        <p:nvGraphicFramePr>
          <p:cNvPr id="5" name="Table 4"/>
          <p:cNvGraphicFramePr>
            <a:graphicFrameLocks noGrp="1"/>
          </p:cNvGraphicFramePr>
          <p:nvPr/>
        </p:nvGraphicFramePr>
        <p:xfrm>
          <a:off x="640080" y="1828800"/>
          <a:ext cx="5120640" cy="1737360"/>
        </p:xfrm>
        <a:graphic>
          <a:graphicData uri="http://schemas.openxmlformats.org/drawingml/2006/table">
            <a:tbl>
              <a:tblPr firstRow="1" bandRow="1">
                <a:tableStyleId>{5C22544A-7EE6-4342-B048-85BDC9FD1C3A}</a:tableStyleId>
              </a:tblPr>
              <a:tblGrid>
                <a:gridCol w="2560320"/>
                <a:gridCol w="2560320"/>
              </a:tblGrid>
              <a:tr h="434340">
                <a:tc>
                  <a:txBody>
                    <a:bodyPr/>
                    <a:lstStyle/>
                    <a:p>
                      <a:pPr algn="ctr"/>
                      <a:r>
                        <a:rPr b="1" sz="1500">
                          <a:solidFill>
                            <a:srgbClr val="FFFFFF"/>
                          </a:solidFill>
                        </a:rPr>
                        <a:t>Multiple-choice metric</a:t>
                      </a:r>
                    </a:p>
                  </a:txBody>
                  <a:tcPr>
                    <a:solidFill>
                      <a:srgbClr val="1F3A5F"/>
                    </a:solidFill>
                  </a:tcPr>
                </a:tc>
                <a:tc>
                  <a:txBody>
                    <a:bodyPr/>
                    <a:lstStyle/>
                    <a:p>
                      <a:pPr algn="ctr"/>
                      <a:r>
                        <a:rPr b="1" sz="1500">
                          <a:solidFill>
                            <a:srgbClr val="FFFFFF"/>
                          </a:solidFill>
                        </a:rPr>
                        <a:t>Score</a:t>
                      </a:r>
                    </a:p>
                  </a:txBody>
                  <a:tcPr>
                    <a:solidFill>
                      <a:srgbClr val="1F3A5F"/>
                    </a:solidFill>
                  </a:tcPr>
                </a:tc>
              </a:tr>
              <a:tr h="434340">
                <a:tc>
                  <a:txBody>
                    <a:bodyPr/>
                    <a:lstStyle/>
                    <a:p>
                      <a:pPr algn="l"/>
                      <a:r>
                        <a:rPr sz="1500">
                          <a:solidFill>
                            <a:srgbClr val="202020"/>
                          </a:solidFill>
                        </a:rPr>
                        <a:t>MC1</a:t>
                      </a:r>
                    </a:p>
                  </a:txBody>
                  <a:tcPr>
                    <a:solidFill>
                      <a:srgbClr val="FFFFFF"/>
                    </a:solidFill>
                  </a:tcPr>
                </a:tc>
                <a:tc>
                  <a:txBody>
                    <a:bodyPr/>
                    <a:lstStyle/>
                    <a:p>
                      <a:pPr algn="ctr"/>
                      <a:r>
                        <a:rPr sz="1500">
                          <a:solidFill>
                            <a:srgbClr val="202020"/>
                          </a:solidFill>
                        </a:rPr>
                        <a:t>34.05%</a:t>
                      </a:r>
                    </a:p>
                  </a:txBody>
                  <a:tcPr>
                    <a:solidFill>
                      <a:srgbClr val="FFFFFF"/>
                    </a:solidFill>
                  </a:tcPr>
                </a:tc>
              </a:tr>
              <a:tr h="434340">
                <a:tc>
                  <a:txBody>
                    <a:bodyPr/>
                    <a:lstStyle/>
                    <a:p>
                      <a:pPr algn="l"/>
                      <a:r>
                        <a:rPr sz="1500">
                          <a:solidFill>
                            <a:srgbClr val="202020"/>
                          </a:solidFill>
                        </a:rPr>
                        <a:t>MC2</a:t>
                      </a:r>
                    </a:p>
                  </a:txBody>
                  <a:tcPr>
                    <a:solidFill>
                      <a:srgbClr val="F2F4F7"/>
                    </a:solidFill>
                  </a:tcPr>
                </a:tc>
                <a:tc>
                  <a:txBody>
                    <a:bodyPr/>
                    <a:lstStyle/>
                    <a:p>
                      <a:pPr algn="ctr"/>
                      <a:r>
                        <a:rPr sz="1500">
                          <a:solidFill>
                            <a:srgbClr val="202020"/>
                          </a:solidFill>
                        </a:rPr>
                        <a:t>55.05%</a:t>
                      </a:r>
                    </a:p>
                  </a:txBody>
                  <a:tcPr>
                    <a:solidFill>
                      <a:srgbClr val="F2F4F7"/>
                    </a:solidFill>
                  </a:tcPr>
                </a:tc>
              </a:tr>
              <a:tr h="434340">
                <a:tc>
                  <a:txBody>
                    <a:bodyPr/>
                    <a:lstStyle/>
                    <a:p>
                      <a:pPr algn="l"/>
                      <a:r>
                        <a:rPr sz="1500">
                          <a:solidFill>
                            <a:srgbClr val="202020"/>
                          </a:solidFill>
                        </a:rPr>
                        <a:t>MC0</a:t>
                      </a:r>
                    </a:p>
                  </a:txBody>
                  <a:tcPr>
                    <a:solidFill>
                      <a:srgbClr val="FFFFFF"/>
                    </a:solidFill>
                  </a:tcPr>
                </a:tc>
                <a:tc>
                  <a:txBody>
                    <a:bodyPr/>
                    <a:lstStyle/>
                    <a:p>
                      <a:pPr algn="ctr"/>
                      <a:r>
                        <a:rPr sz="1500">
                          <a:solidFill>
                            <a:srgbClr val="202020"/>
                          </a:solidFill>
                        </a:rPr>
                        <a:t>44.18%</a:t>
                      </a:r>
                    </a:p>
                  </a:txBody>
                  <a:tcPr>
                    <a:solidFill>
                      <a:srgbClr val="FFFFFF"/>
                    </a:solidFill>
                  </a:tcPr>
                </a:tc>
              </a:tr>
            </a:tbl>
          </a:graphicData>
        </a:graphic>
      </p:graphicFrame>
      <p:graphicFrame>
        <p:nvGraphicFramePr>
          <p:cNvPr id="6" name="Table 5"/>
          <p:cNvGraphicFramePr>
            <a:graphicFrameLocks noGrp="1"/>
          </p:cNvGraphicFramePr>
          <p:nvPr/>
        </p:nvGraphicFramePr>
        <p:xfrm>
          <a:off x="6126480" y="1828800"/>
          <a:ext cx="5394960" cy="2011680"/>
        </p:xfrm>
        <a:graphic>
          <a:graphicData uri="http://schemas.openxmlformats.org/drawingml/2006/table">
            <a:tbl>
              <a:tblPr firstRow="1" bandRow="1">
                <a:tableStyleId>{5C22544A-7EE6-4342-B048-85BDC9FD1C3A}</a:tableStyleId>
              </a:tblPr>
              <a:tblGrid>
                <a:gridCol w="1798320"/>
                <a:gridCol w="1798320"/>
                <a:gridCol w="1798320"/>
              </a:tblGrid>
              <a:tr h="502920">
                <a:tc>
                  <a:txBody>
                    <a:bodyPr/>
                    <a:lstStyle/>
                    <a:p>
                      <a:pPr algn="ctr"/>
                      <a:r>
                        <a:rPr b="1" sz="1400">
                          <a:solidFill>
                            <a:srgbClr val="FFFFFF"/>
                          </a:solidFill>
                        </a:rPr>
                        <a:t>Free-form decision</a:t>
                      </a:r>
                    </a:p>
                  </a:txBody>
                  <a:tcPr>
                    <a:solidFill>
                      <a:srgbClr val="1F3A5F"/>
                    </a:solidFill>
                  </a:tcPr>
                </a:tc>
                <a:tc>
                  <a:txBody>
                    <a:bodyPr/>
                    <a:lstStyle/>
                    <a:p>
                      <a:pPr algn="ctr"/>
                      <a:r>
                        <a:rPr b="1" sz="1400">
                          <a:solidFill>
                            <a:srgbClr val="FFFFFF"/>
                          </a:solidFill>
                        </a:rPr>
                        <a:t>Attempt 0</a:t>
                      </a:r>
                    </a:p>
                  </a:txBody>
                  <a:tcPr>
                    <a:solidFill>
                      <a:srgbClr val="1F3A5F"/>
                    </a:solidFill>
                  </a:tcPr>
                </a:tc>
                <a:tc>
                  <a:txBody>
                    <a:bodyPr/>
                    <a:lstStyle/>
                    <a:p>
                      <a:pPr algn="ctr"/>
                      <a:r>
                        <a:rPr b="1" sz="1400">
                          <a:solidFill>
                            <a:srgbClr val="FFFFFF"/>
                          </a:solidFill>
                        </a:rPr>
                        <a:t>Final</a:t>
                      </a:r>
                    </a:p>
                  </a:txBody>
                  <a:tcPr>
                    <a:solidFill>
                      <a:srgbClr val="1F3A5F"/>
                    </a:solidFill>
                  </a:tcPr>
                </a:tc>
              </a:tr>
              <a:tr h="502920">
                <a:tc>
                  <a:txBody>
                    <a:bodyPr/>
                    <a:lstStyle/>
                    <a:p>
                      <a:pPr algn="l"/>
                      <a:r>
                        <a:rPr sz="1400">
                          <a:solidFill>
                            <a:srgbClr val="202020"/>
                          </a:solidFill>
                        </a:rPr>
                        <a:t>ACCEPT</a:t>
                      </a:r>
                    </a:p>
                  </a:txBody>
                  <a:tcPr>
                    <a:solidFill>
                      <a:srgbClr val="FFFFFF"/>
                    </a:solidFill>
                  </a:tcPr>
                </a:tc>
                <a:tc>
                  <a:txBody>
                    <a:bodyPr/>
                    <a:lstStyle/>
                    <a:p>
                      <a:pPr algn="ctr"/>
                      <a:r>
                        <a:rPr sz="1400">
                          <a:solidFill>
                            <a:srgbClr val="202020"/>
                          </a:solidFill>
                        </a:rPr>
                        <a:t>80.0%</a:t>
                      </a:r>
                    </a:p>
                  </a:txBody>
                  <a:tcPr>
                    <a:solidFill>
                      <a:srgbClr val="FFFFFF"/>
                    </a:solidFill>
                  </a:tcPr>
                </a:tc>
                <a:tc>
                  <a:txBody>
                    <a:bodyPr/>
                    <a:lstStyle/>
                    <a:p>
                      <a:pPr algn="ctr"/>
                      <a:r>
                        <a:rPr sz="1400">
                          <a:solidFill>
                            <a:srgbClr val="202020"/>
                          </a:solidFill>
                        </a:rPr>
                        <a:t>95.3%</a:t>
                      </a:r>
                    </a:p>
                  </a:txBody>
                  <a:tcPr>
                    <a:solidFill>
                      <a:srgbClr val="FFFFFF"/>
                    </a:solidFill>
                  </a:tcPr>
                </a:tc>
              </a:tr>
              <a:tr h="502920">
                <a:tc>
                  <a:txBody>
                    <a:bodyPr/>
                    <a:lstStyle/>
                    <a:p>
                      <a:pPr algn="l"/>
                      <a:r>
                        <a:rPr sz="1400">
                          <a:solidFill>
                            <a:srgbClr val="202020"/>
                          </a:solidFill>
                        </a:rPr>
                        <a:t>CORRECT</a:t>
                      </a:r>
                    </a:p>
                  </a:txBody>
                  <a:tcPr>
                    <a:solidFill>
                      <a:srgbClr val="F2F4F7"/>
                    </a:solidFill>
                  </a:tcPr>
                </a:tc>
                <a:tc>
                  <a:txBody>
                    <a:bodyPr/>
                    <a:lstStyle/>
                    <a:p>
                      <a:pPr algn="ctr"/>
                      <a:r>
                        <a:rPr sz="1400">
                          <a:solidFill>
                            <a:srgbClr val="202020"/>
                          </a:solidFill>
                        </a:rPr>
                        <a:t>20.0%</a:t>
                      </a:r>
                    </a:p>
                  </a:txBody>
                  <a:tcPr>
                    <a:solidFill>
                      <a:srgbClr val="F2F4F7"/>
                    </a:solidFill>
                  </a:tcPr>
                </a:tc>
                <a:tc>
                  <a:txBody>
                    <a:bodyPr/>
                    <a:lstStyle/>
                    <a:p>
                      <a:pPr algn="ctr"/>
                      <a:r>
                        <a:rPr sz="1400">
                          <a:solidFill>
                            <a:srgbClr val="202020"/>
                          </a:solidFill>
                        </a:rPr>
                        <a:t>-</a:t>
                      </a:r>
                    </a:p>
                  </a:txBody>
                  <a:tcPr>
                    <a:solidFill>
                      <a:srgbClr val="F2F4F7"/>
                    </a:solidFill>
                  </a:tcPr>
                </a:tc>
              </a:tr>
              <a:tr h="502920">
                <a:tc>
                  <a:txBody>
                    <a:bodyPr/>
                    <a:lstStyle/>
                    <a:p>
                      <a:pPr algn="l"/>
                      <a:r>
                        <a:rPr sz="1400">
                          <a:solidFill>
                            <a:srgbClr val="202020"/>
                          </a:solidFill>
                        </a:rPr>
                        <a:t>ABSTAIN</a:t>
                      </a:r>
                    </a:p>
                  </a:txBody>
                  <a:tcPr>
                    <a:solidFill>
                      <a:srgbClr val="FFFFFF"/>
                    </a:solidFill>
                  </a:tcPr>
                </a:tc>
                <a:tc>
                  <a:txBody>
                    <a:bodyPr/>
                    <a:lstStyle/>
                    <a:p>
                      <a:pPr algn="ctr"/>
                      <a:r>
                        <a:rPr sz="1400">
                          <a:solidFill>
                            <a:srgbClr val="202020"/>
                          </a:solidFill>
                        </a:rPr>
                        <a:t>0.0%</a:t>
                      </a:r>
                    </a:p>
                  </a:txBody>
                  <a:tcPr>
                    <a:solidFill>
                      <a:srgbClr val="FFFFFF"/>
                    </a:solidFill>
                  </a:tcPr>
                </a:tc>
                <a:tc>
                  <a:txBody>
                    <a:bodyPr/>
                    <a:lstStyle/>
                    <a:p>
                      <a:pPr algn="ctr"/>
                      <a:r>
                        <a:rPr sz="1400">
                          <a:solidFill>
                            <a:srgbClr val="202020"/>
                          </a:solidFill>
                        </a:rPr>
                        <a:t>4.7%</a:t>
                      </a:r>
                    </a:p>
                  </a:txBody>
                  <a:tcPr>
                    <a:solidFill>
                      <a:srgbClr val="FFFFFF"/>
                    </a:solidFill>
                  </a:tcPr>
                </a:tc>
              </a:tr>
            </a:tbl>
          </a:graphicData>
        </a:graphic>
      </p:graphicFrame>
      <p:sp>
        <p:nvSpPr>
          <p:cNvPr id="7" name="TextBox 6"/>
          <p:cNvSpPr txBox="1"/>
          <p:nvPr/>
        </p:nvSpPr>
        <p:spPr>
          <a:xfrm>
            <a:off x="640080" y="4114800"/>
            <a:ext cx="10881360" cy="457200"/>
          </a:xfrm>
          <a:prstGeom prst="rect">
            <a:avLst/>
          </a:prstGeom>
          <a:noFill/>
        </p:spPr>
        <p:txBody>
          <a:bodyPr wrap="square">
            <a:spAutoFit/>
          </a:bodyPr>
          <a:lstStyle/>
          <a:p>
            <a:pPr algn="l"/>
            <a:r>
              <a:rPr sz="1500" b="1" i="0">
                <a:solidFill>
                  <a:srgbClr val="B3453C"/>
                </a:solidFill>
              </a:rPr>
              <a:t>IMPORTANT: ACCEPT/CORRECT rates are NOT presented as truthfulness accuracy.</a:t>
            </a:r>
          </a:p>
        </p:txBody>
      </p:sp>
      <p:sp>
        <p:nvSpPr>
          <p:cNvPr id="8" name="TextBox 7"/>
          <p:cNvSpPr txBox="1"/>
          <p:nvPr/>
        </p:nvSpPr>
        <p:spPr>
          <a:xfrm>
            <a:off x="640080" y="4663440"/>
            <a:ext cx="10881360" cy="1188720"/>
          </a:xfrm>
          <a:prstGeom prst="rect">
            <a:avLst/>
          </a:prstGeom>
          <a:noFill/>
        </p:spPr>
        <p:txBody>
          <a:bodyPr wrap="square">
            <a:spAutoFit/>
          </a:bodyPr>
          <a:lstStyle/>
          <a:p>
            <a:pPr algn="l"/>
            <a:r>
              <a:rPr sz="1500" b="0" i="1">
                <a:solidFill>
                  <a:srgbClr val="202020"/>
                </a:solidFill>
              </a:rPr>
              <a:t>"No approved automatic free-form truthfulness judge was available; therefore free-form truthfulness was not artificially scored." This is a strength of the methodology, not something to hide.</a:t>
            </a:r>
          </a:p>
        </p:txBody>
      </p:sp>
      <p:sp>
        <p:nvSpPr>
          <p:cNvPr id="9" name="TextBox 8"/>
          <p:cNvSpPr txBox="1"/>
          <p:nvPr/>
        </p:nvSpPr>
        <p:spPr>
          <a:xfrm>
            <a:off x="502920" y="6565392"/>
            <a:ext cx="11155680" cy="256032"/>
          </a:xfrm>
          <a:prstGeom prst="rect">
            <a:avLst/>
          </a:prstGeom>
          <a:noFill/>
        </p:spPr>
        <p:txBody>
          <a:bodyPr wrap="square">
            <a:spAutoFit/>
          </a:bodyPr>
          <a:lstStyle/>
          <a:p>
            <a:pPr algn="l"/>
            <a:r>
              <a:rPr sz="900" b="0" i="1">
                <a:solidFill>
                  <a:srgbClr val="5B6470"/>
                </a:solidFill>
              </a:rPr>
              <a:t>ClaimGuard — TruthfulQA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960120"/>
          </a:xfrm>
          <a:prstGeom prst="rect">
            <a:avLst/>
          </a:prstGeom>
          <a:noFill/>
        </p:spPr>
        <p:txBody>
          <a:bodyPr wrap="square">
            <a:spAutoFit/>
          </a:bodyPr>
          <a:lstStyle/>
          <a:p>
            <a:r>
              <a:rPr sz="2800" b="1">
                <a:solidFill>
                  <a:srgbClr val="1F3A5F"/>
                </a:solidFill>
              </a:rPr>
              <a:t>What Actually Causes the Failure?</a:t>
            </a:r>
          </a:p>
        </p:txBody>
      </p:sp>
      <p:sp>
        <p:nvSpPr>
          <p:cNvPr id="3" name="Rectangle 2"/>
          <p:cNvSpPr/>
          <p:nvPr/>
        </p:nvSpPr>
        <p:spPr>
          <a:xfrm>
            <a:off x="502920" y="1078992"/>
            <a:ext cx="11155680" cy="279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Chart 3"/>
          <p:cNvGraphicFramePr>
            <a:graphicFrameLocks noGrp="1"/>
          </p:cNvGraphicFramePr>
          <p:nvPr/>
        </p:nvGraphicFramePr>
        <p:xfrm>
          <a:off x="502920" y="1234440"/>
          <a:ext cx="11247120" cy="3794760"/>
        </p:xfrm>
        <a:graphic>
          <a:graphicData uri="http://schemas.openxmlformats.org/drawingml/2006/chart">
            <c:chart xmlns:c="http://schemas.openxmlformats.org/drawingml/2006/chart" r:id="rId2"/>
          </a:graphicData>
        </a:graphic>
      </p:graphicFrame>
      <p:sp>
        <p:nvSpPr>
          <p:cNvPr id="5" name="TextBox 4"/>
          <p:cNvSpPr txBox="1"/>
          <p:nvPr/>
        </p:nvSpPr>
        <p:spPr>
          <a:xfrm>
            <a:off x="502920" y="5166360"/>
            <a:ext cx="11247120" cy="1463040"/>
          </a:xfrm>
          <a:prstGeom prst="rect">
            <a:avLst/>
          </a:prstGeom>
          <a:noFill/>
        </p:spPr>
        <p:txBody>
          <a:bodyPr wrap="square">
            <a:spAutoFit/>
          </a:bodyPr>
          <a:lstStyle/>
          <a:p>
            <a:pPr>
              <a:spcAft>
                <a:spcPts val="600"/>
              </a:spcAft>
            </a:pPr>
            <a:r>
              <a:rPr sz="1400">
                <a:solidFill>
                  <a:srgbClr val="202020"/>
                </a:solidFill>
              </a:rPr>
              <a:t>•  Reranker changes WHICH evidence is selected (100% of responses) but does not change downstream metrics (A vs. B identical to 4 decimals).</a:t>
            </a:r>
          </a:p>
          <a:p>
            <a:pPr>
              <a:spcAft>
                <a:spcPts val="600"/>
              </a:spcAft>
            </a:pPr>
            <a:r>
              <a:rPr sz="1400">
                <a:solidFill>
                  <a:srgbClr val="202020"/>
                </a:solidFill>
              </a:rPr>
              <a:t>•  FAISS Top-1 only is measurably worse — candidate POOL SIZE matters more than ordering.</a:t>
            </a:r>
          </a:p>
          <a:p>
            <a:pPr>
              <a:spcAft>
                <a:spcPts val="600"/>
              </a:spcAft>
            </a:pPr>
            <a:r>
              <a:rPr sz="1400">
                <a:solidFill>
                  <a:srgbClr val="202020"/>
                </a:solidFill>
              </a:rPr>
              <a:t>•  Correction contributes some net signal (D vs. E) but is not the root problem.</a:t>
            </a:r>
          </a:p>
        </p:txBody>
      </p:sp>
      <p:sp>
        <p:nvSpPr>
          <p:cNvPr id="6" name="TextBox 5"/>
          <p:cNvSpPr txBox="1"/>
          <p:nvPr/>
        </p:nvSpPr>
        <p:spPr>
          <a:xfrm>
            <a:off x="502920" y="6565392"/>
            <a:ext cx="11155680" cy="256032"/>
          </a:xfrm>
          <a:prstGeom prst="rect">
            <a:avLst/>
          </a:prstGeom>
          <a:noFill/>
        </p:spPr>
        <p:txBody>
          <a:bodyPr wrap="square">
            <a:spAutoFit/>
          </a:bodyPr>
          <a:lstStyle/>
          <a:p>
            <a:pPr algn="l"/>
            <a:r>
              <a:rPr sz="900" b="0" i="1">
                <a:solidFill>
                  <a:srgbClr val="5B6470"/>
                </a:solidFill>
              </a:rPr>
              <a:t>ClaimGuard — Controlled Ablations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960120"/>
          </a:xfrm>
          <a:prstGeom prst="rect">
            <a:avLst/>
          </a:prstGeom>
          <a:noFill/>
        </p:spPr>
        <p:txBody>
          <a:bodyPr wrap="square">
            <a:spAutoFit/>
          </a:bodyPr>
          <a:lstStyle/>
          <a:p>
            <a:r>
              <a:rPr sz="2800" b="1">
                <a:solidFill>
                  <a:srgbClr val="1F3A5F"/>
                </a:solidFill>
              </a:rPr>
              <a:t>Evidence-Supported Failure Model</a:t>
            </a:r>
          </a:p>
        </p:txBody>
      </p:sp>
      <p:sp>
        <p:nvSpPr>
          <p:cNvPr id="3" name="Rectangle 2"/>
          <p:cNvSpPr/>
          <p:nvPr/>
        </p:nvSpPr>
        <p:spPr>
          <a:xfrm>
            <a:off x="502920" y="1078992"/>
            <a:ext cx="11155680" cy="279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lide16_failure_model.png"/>
          <p:cNvPicPr>
            <a:picLocks noChangeAspect="1"/>
          </p:cNvPicPr>
          <p:nvPr/>
        </p:nvPicPr>
        <p:blipFill>
          <a:blip r:embed="rId2"/>
          <a:stretch>
            <a:fillRect/>
          </a:stretch>
        </p:blipFill>
        <p:spPr>
          <a:xfrm>
            <a:off x="548640" y="1188720"/>
            <a:ext cx="4685015" cy="5486400"/>
          </a:xfrm>
          <a:prstGeom prst="rect">
            <a:avLst/>
          </a:prstGeom>
        </p:spPr>
      </p:pic>
      <p:sp>
        <p:nvSpPr>
          <p:cNvPr id="5" name="TextBox 4"/>
          <p:cNvSpPr txBox="1"/>
          <p:nvPr/>
        </p:nvSpPr>
        <p:spPr>
          <a:xfrm>
            <a:off x="7772400" y="2011680"/>
            <a:ext cx="3931920" cy="2743200"/>
          </a:xfrm>
          <a:prstGeom prst="rect">
            <a:avLst/>
          </a:prstGeom>
          <a:noFill/>
        </p:spPr>
        <p:txBody>
          <a:bodyPr wrap="square">
            <a:spAutoFit/>
          </a:bodyPr>
          <a:lstStyle/>
          <a:p>
            <a:pPr>
              <a:spcAft>
                <a:spcPts val="1400"/>
              </a:spcAft>
            </a:pPr>
            <a:r>
              <a:rPr sz="1500">
                <a:solidFill>
                  <a:srgbClr val="202020"/>
                </a:solidFill>
              </a:rPr>
              <a:t>•  Verifier confidently wrong: 38.3% of diagnostic subset.</a:t>
            </a:r>
          </a:p>
          <a:p>
            <a:pPr>
              <a:spcAft>
                <a:spcPts val="1400"/>
              </a:spcAft>
            </a:pPr>
            <a:r>
              <a:rPr sz="1500">
                <a:solidFill>
                  <a:srgbClr val="202020"/>
                </a:solidFill>
              </a:rPr>
              <a:t>•  Harmful correction: 33.7%.</a:t>
            </a:r>
          </a:p>
          <a:p>
            <a:pPr>
              <a:spcAft>
                <a:spcPts val="1400"/>
              </a:spcAft>
            </a:pPr>
            <a:r>
              <a:rPr sz="1500">
                <a:solidFill>
                  <a:srgbClr val="202020"/>
                </a:solidFill>
              </a:rPr>
              <a:t>•  Retrieval mechanical failure: 0%.</a:t>
            </a:r>
          </a:p>
          <a:p>
            <a:pPr>
              <a:spcAft>
                <a:spcPts val="1400"/>
              </a:spcAft>
            </a:pPr>
            <a:r>
              <a:rPr sz="1500">
                <a:solidFill>
                  <a:srgbClr val="202020"/>
                </a:solidFill>
              </a:rPr>
              <a:t>•  Reranking: not a meaningful bottleneck.</a:t>
            </a:r>
          </a:p>
        </p:txBody>
      </p:sp>
      <p:sp>
        <p:nvSpPr>
          <p:cNvPr id="6" name="TextBox 5"/>
          <p:cNvSpPr txBox="1"/>
          <p:nvPr/>
        </p:nvSpPr>
        <p:spPr>
          <a:xfrm>
            <a:off x="502920" y="6565392"/>
            <a:ext cx="11155680" cy="256032"/>
          </a:xfrm>
          <a:prstGeom prst="rect">
            <a:avLst/>
          </a:prstGeom>
          <a:noFill/>
        </p:spPr>
        <p:txBody>
          <a:bodyPr wrap="square">
            <a:spAutoFit/>
          </a:bodyPr>
          <a:lstStyle/>
          <a:p>
            <a:pPr algn="l"/>
            <a:r>
              <a:rPr sz="900" b="0" i="1">
                <a:solidFill>
                  <a:srgbClr val="5B6470"/>
                </a:solidFill>
              </a:rPr>
              <a:t>ClaimGuard — Failure Analysis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960120"/>
          </a:xfrm>
          <a:prstGeom prst="rect">
            <a:avLst/>
          </a:prstGeom>
          <a:noFill/>
        </p:spPr>
        <p:txBody>
          <a:bodyPr wrap="square">
            <a:spAutoFit/>
          </a:bodyPr>
          <a:lstStyle/>
          <a:p>
            <a:r>
              <a:rPr sz="2800" b="1">
                <a:solidFill>
                  <a:srgbClr val="1F3A5F"/>
                </a:solidFill>
              </a:rPr>
              <a:t>Key Findings</a:t>
            </a:r>
          </a:p>
        </p:txBody>
      </p:sp>
      <p:sp>
        <p:nvSpPr>
          <p:cNvPr id="3" name="Rectangle 2"/>
          <p:cNvSpPr/>
          <p:nvPr/>
        </p:nvSpPr>
        <p:spPr>
          <a:xfrm>
            <a:off x="502920" y="1078992"/>
            <a:ext cx="11155680" cy="279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3017520"/>
          </a:xfrm>
          <a:prstGeom prst="rect">
            <a:avLst/>
          </a:prstGeom>
          <a:noFill/>
        </p:spPr>
        <p:txBody>
          <a:bodyPr wrap="square">
            <a:spAutoFit/>
          </a:bodyPr>
          <a:lstStyle/>
          <a:p>
            <a:pPr>
              <a:spcAft>
                <a:spcPts val="1400"/>
              </a:spcAft>
            </a:pPr>
            <a:r>
              <a:rPr sz="1700">
                <a:solidFill>
                  <a:srgbClr val="202020"/>
                </a:solidFill>
              </a:rPr>
              <a:t>•  ClaimGuard did not outperform the RAGTruth majority baseline.</a:t>
            </a:r>
          </a:p>
          <a:p>
            <a:pPr>
              <a:spcAft>
                <a:spcPts val="1400"/>
              </a:spcAft>
            </a:pPr>
            <a:r>
              <a:rPr sz="1700">
                <a:solidFill>
                  <a:srgbClr val="202020"/>
                </a:solidFill>
              </a:rPr>
              <a:t>•  FEVER/Wikipedia evidence is poorly matched to RAGTruth's actual source domains.</a:t>
            </a:r>
          </a:p>
          <a:p>
            <a:pPr>
              <a:spcAft>
                <a:spcPts val="1400"/>
              </a:spcAft>
            </a:pPr>
            <a:r>
              <a:rPr sz="1700">
                <a:solidFill>
                  <a:srgbClr val="202020"/>
                </a:solidFill>
              </a:rPr>
              <a:t>•  The verifier is substantially overconfident on irrelevant evidence.</a:t>
            </a:r>
          </a:p>
          <a:p>
            <a:pPr>
              <a:spcAft>
                <a:spcPts val="1400"/>
              </a:spcAft>
            </a:pPr>
            <a:r>
              <a:rPr sz="1700">
                <a:solidFill>
                  <a:srgbClr val="202020"/>
                </a:solidFill>
              </a:rPr>
              <a:t>•  The decision policy produces essentially no abstention.</a:t>
            </a:r>
          </a:p>
          <a:p>
            <a:pPr>
              <a:spcAft>
                <a:spcPts val="1400"/>
              </a:spcAft>
            </a:pPr>
            <a:r>
              <a:rPr sz="1700">
                <a:solidFill>
                  <a:srgbClr val="202020"/>
                </a:solidFill>
              </a:rPr>
              <a:t>•  Correction harm is largely downstream of incorrect verification decisions, not an independently broken correction mechanism.</a:t>
            </a:r>
          </a:p>
        </p:txBody>
      </p:sp>
      <p:sp>
        <p:nvSpPr>
          <p:cNvPr id="5" name="Rectangle 4"/>
          <p:cNvSpPr/>
          <p:nvPr/>
        </p:nvSpPr>
        <p:spPr>
          <a:xfrm>
            <a:off x="640080" y="4572000"/>
            <a:ext cx="10881360" cy="1645920"/>
          </a:xfrm>
          <a:prstGeom prst="rect">
            <a:avLst/>
          </a:prstGeom>
          <a:solidFill>
            <a:srgbClr val="DBE7F5"/>
          </a:solidFill>
          <a:ln w="15240">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b="1" sz="1400">
                <a:solidFill>
                  <a:srgbClr val="1F3A5F"/>
                </a:solidFill>
              </a:rPr>
              <a:t>FINAL CONCLUSION</a:t>
            </a:r>
          </a:p>
          <a:p>
            <a:r>
              <a:rPr i="1" sz="1600">
                <a:solidFill>
                  <a:srgbClr val="202020"/>
                </a:solidFill>
              </a:rPr>
              <a:t>"ClaimGuard demonstrates the importance of evidence relevance and calibrated uncertainty in end-to-end hallucination detection."</a:t>
            </a:r>
          </a:p>
        </p:txBody>
      </p:sp>
      <p:sp>
        <p:nvSpPr>
          <p:cNvPr id="6" name="TextBox 5"/>
          <p:cNvSpPr txBox="1"/>
          <p:nvPr/>
        </p:nvSpPr>
        <p:spPr>
          <a:xfrm>
            <a:off x="502920" y="6565392"/>
            <a:ext cx="11155680" cy="256032"/>
          </a:xfrm>
          <a:prstGeom prst="rect">
            <a:avLst/>
          </a:prstGeom>
          <a:noFill/>
        </p:spPr>
        <p:txBody>
          <a:bodyPr wrap="square">
            <a:spAutoFit/>
          </a:bodyPr>
          <a:lstStyle/>
          <a:p>
            <a:pPr algn="l"/>
            <a:r>
              <a:rPr sz="900" b="0" i="1">
                <a:solidFill>
                  <a:srgbClr val="5B6470"/>
                </a:solidFill>
              </a:rPr>
              <a:t>ClaimGuard — Key Findings  |  The current implementation does not solve hallucination detection.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960120"/>
          </a:xfrm>
          <a:prstGeom prst="rect">
            <a:avLst/>
          </a:prstGeom>
          <a:noFill/>
        </p:spPr>
        <p:txBody>
          <a:bodyPr wrap="square">
            <a:spAutoFit/>
          </a:bodyPr>
          <a:lstStyle/>
          <a:p>
            <a:r>
              <a:rPr sz="2800" b="1">
                <a:solidFill>
                  <a:srgbClr val="1F3A5F"/>
                </a:solidFill>
              </a:rPr>
              <a:t>Limitations and Future Research</a:t>
            </a:r>
          </a:p>
        </p:txBody>
      </p:sp>
      <p:sp>
        <p:nvSpPr>
          <p:cNvPr id="3" name="Rectangle 2"/>
          <p:cNvSpPr/>
          <p:nvPr/>
        </p:nvSpPr>
        <p:spPr>
          <a:xfrm>
            <a:off x="502920" y="1078992"/>
            <a:ext cx="11155680" cy="279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5303520" cy="365760"/>
          </a:xfrm>
          <a:prstGeom prst="rect">
            <a:avLst/>
          </a:prstGeom>
          <a:noFill/>
        </p:spPr>
        <p:txBody>
          <a:bodyPr wrap="square">
            <a:spAutoFit/>
          </a:bodyPr>
          <a:lstStyle/>
          <a:p>
            <a:pPr algn="l"/>
            <a:r>
              <a:rPr sz="1500" b="1" i="0">
                <a:solidFill>
                  <a:srgbClr val="B3453C"/>
                </a:solidFill>
              </a:rPr>
              <a:t>LIMITATIONS</a:t>
            </a:r>
          </a:p>
        </p:txBody>
      </p:sp>
      <p:sp>
        <p:nvSpPr>
          <p:cNvPr id="5" name="TextBox 4"/>
          <p:cNvSpPr txBox="1"/>
          <p:nvPr/>
        </p:nvSpPr>
        <p:spPr>
          <a:xfrm>
            <a:off x="640080" y="1645920"/>
            <a:ext cx="5303520" cy="4480560"/>
          </a:xfrm>
          <a:prstGeom prst="rect">
            <a:avLst/>
          </a:prstGeom>
          <a:noFill/>
        </p:spPr>
        <p:txBody>
          <a:bodyPr wrap="square">
            <a:spAutoFit/>
          </a:bodyPr>
          <a:lstStyle/>
          <a:p>
            <a:pPr>
              <a:spcAft>
                <a:spcPts val="600"/>
              </a:spcAft>
            </a:pPr>
            <a:r>
              <a:rPr sz="1350">
                <a:solidFill>
                  <a:srgbClr val="202020"/>
                </a:solidFill>
              </a:rPr>
              <a:t>•  Domain-mismatched retrieval corpus.</a:t>
            </a:r>
          </a:p>
          <a:p>
            <a:pPr>
              <a:spcAft>
                <a:spcPts val="600"/>
              </a:spcAft>
            </a:pPr>
            <a:r>
              <a:rPr sz="1350">
                <a:solidFill>
                  <a:srgbClr val="202020"/>
                </a:solidFill>
              </a:rPr>
              <a:t>•  Verifier overconfidence on out-of-domain evidence.</a:t>
            </a:r>
          </a:p>
          <a:p>
            <a:pPr>
              <a:spcAft>
                <a:spcPts val="600"/>
              </a:spcAft>
            </a:pPr>
            <a:r>
              <a:rPr sz="1350">
                <a:solidFill>
                  <a:srgbClr val="202020"/>
                </a:solidFill>
              </a:rPr>
              <a:t>•  Near-zero-abstain decision policy.</a:t>
            </a:r>
          </a:p>
          <a:p>
            <a:pPr>
              <a:spcAft>
                <a:spcPts val="600"/>
              </a:spcAft>
            </a:pPr>
            <a:r>
              <a:rPr sz="1350">
                <a:solidFill>
                  <a:srgbClr val="202020"/>
                </a:solidFill>
              </a:rPr>
              <a:t>•  No approved free-form TruthfulQA judge.</a:t>
            </a:r>
          </a:p>
          <a:p>
            <a:pPr>
              <a:spcAft>
                <a:spcPts val="600"/>
              </a:spcAft>
            </a:pPr>
            <a:r>
              <a:rPr sz="1350">
                <a:solidFill>
                  <a:srgbClr val="202020"/>
                </a:solidFill>
              </a:rPr>
              <a:t>•  RAGTruth retrieval relevance not directly measurable.</a:t>
            </a:r>
          </a:p>
          <a:p>
            <a:pPr>
              <a:spcAft>
                <a:spcPts val="600"/>
              </a:spcAft>
            </a:pPr>
            <a:r>
              <a:rPr sz="1350">
                <a:solidFill>
                  <a:srgbClr val="202020"/>
                </a:solidFill>
              </a:rPr>
              <a:t>•  TruthfulQA MC may reflect benchmark memorization.</a:t>
            </a:r>
          </a:p>
          <a:p>
            <a:pPr>
              <a:spcAft>
                <a:spcPts val="600"/>
              </a:spcAft>
            </a:pPr>
            <a:r>
              <a:rPr sz="1350">
                <a:solidFill>
                  <a:srgbClr val="202020"/>
                </a:solidFill>
              </a:rPr>
              <a:t>•  Limited ablation subset for A/B/C (300/2,700 responses).</a:t>
            </a:r>
          </a:p>
          <a:p>
            <a:pPr>
              <a:spcAft>
                <a:spcPts val="600"/>
              </a:spcAft>
            </a:pPr>
            <a:r>
              <a:rPr sz="1350">
                <a:solidFill>
                  <a:srgbClr val="202020"/>
                </a:solidFill>
              </a:rPr>
              <a:t>•  Single primary verifier training run.</a:t>
            </a:r>
          </a:p>
        </p:txBody>
      </p:sp>
      <p:sp>
        <p:nvSpPr>
          <p:cNvPr id="6" name="TextBox 5"/>
          <p:cNvSpPr txBox="1"/>
          <p:nvPr/>
        </p:nvSpPr>
        <p:spPr>
          <a:xfrm>
            <a:off x="6217920" y="1234440"/>
            <a:ext cx="5303520" cy="365760"/>
          </a:xfrm>
          <a:prstGeom prst="rect">
            <a:avLst/>
          </a:prstGeom>
          <a:noFill/>
        </p:spPr>
        <p:txBody>
          <a:bodyPr wrap="square">
            <a:spAutoFit/>
          </a:bodyPr>
          <a:lstStyle/>
          <a:p>
            <a:pPr algn="l"/>
            <a:r>
              <a:rPr sz="1500" b="1" i="0">
                <a:solidFill>
                  <a:srgbClr val="2F7A78"/>
                </a:solidFill>
              </a:rPr>
              <a:t>FUTURE WORK (not implemented / not solved)</a:t>
            </a:r>
          </a:p>
        </p:txBody>
      </p:sp>
      <p:sp>
        <p:nvSpPr>
          <p:cNvPr id="7" name="TextBox 6"/>
          <p:cNvSpPr txBox="1"/>
          <p:nvPr/>
        </p:nvSpPr>
        <p:spPr>
          <a:xfrm>
            <a:off x="6217920" y="1645920"/>
            <a:ext cx="5303520" cy="4480560"/>
          </a:xfrm>
          <a:prstGeom prst="rect">
            <a:avLst/>
          </a:prstGeom>
          <a:noFill/>
        </p:spPr>
        <p:txBody>
          <a:bodyPr wrap="square">
            <a:spAutoFit/>
          </a:bodyPr>
          <a:lstStyle/>
          <a:p>
            <a:pPr>
              <a:spcAft>
                <a:spcPts val="600"/>
              </a:spcAft>
            </a:pPr>
            <a:r>
              <a:rPr sz="1350">
                <a:solidFill>
                  <a:srgbClr val="202020"/>
                </a:solidFill>
              </a:rPr>
              <a:t>•  Domain-matched evidence retrieval.</a:t>
            </a:r>
          </a:p>
          <a:p>
            <a:pPr>
              <a:spcAft>
                <a:spcPts val="600"/>
              </a:spcAft>
            </a:pPr>
            <a:r>
              <a:rPr sz="1350">
                <a:solidFill>
                  <a:srgbClr val="202020"/>
                </a:solidFill>
              </a:rPr>
              <a:t>•  Broader evidence corpus.</a:t>
            </a:r>
          </a:p>
          <a:p>
            <a:pPr>
              <a:spcAft>
                <a:spcPts val="600"/>
              </a:spcAft>
            </a:pPr>
            <a:r>
              <a:rPr sz="1350">
                <a:solidFill>
                  <a:srgbClr val="202020"/>
                </a:solidFill>
              </a:rPr>
              <a:t>•  Verifier calibration for out-of-domain evidence.</a:t>
            </a:r>
          </a:p>
          <a:p>
            <a:pPr>
              <a:spcAft>
                <a:spcPts val="600"/>
              </a:spcAft>
            </a:pPr>
            <a:r>
              <a:rPr sz="1350">
                <a:solidFill>
                  <a:srgbClr val="202020"/>
                </a:solidFill>
              </a:rPr>
              <a:t>•  Explicit uncertainty / abstention mechanism.</a:t>
            </a:r>
          </a:p>
          <a:p>
            <a:pPr>
              <a:spcAft>
                <a:spcPts val="600"/>
              </a:spcAft>
            </a:pPr>
            <a:r>
              <a:rPr sz="1350">
                <a:solidFill>
                  <a:srgbClr val="202020"/>
                </a:solidFill>
              </a:rPr>
              <a:t>•  Evidence-quality scoring.</a:t>
            </a:r>
          </a:p>
          <a:p>
            <a:pPr>
              <a:spcAft>
                <a:spcPts val="600"/>
              </a:spcAft>
            </a:pPr>
            <a:r>
              <a:rPr sz="1350">
                <a:solidFill>
                  <a:srgbClr val="202020"/>
                </a:solidFill>
              </a:rPr>
              <a:t>•  Improved evidence aggregation.</a:t>
            </a:r>
          </a:p>
          <a:p>
            <a:pPr>
              <a:spcAft>
                <a:spcPts val="600"/>
              </a:spcAft>
            </a:pPr>
            <a:r>
              <a:rPr sz="1350">
                <a:solidFill>
                  <a:srgbClr val="202020"/>
                </a:solidFill>
              </a:rPr>
              <a:t>•  Correction gating (only correct on reliable signals).</a:t>
            </a:r>
          </a:p>
          <a:p>
            <a:pPr>
              <a:spcAft>
                <a:spcPts val="600"/>
              </a:spcAft>
            </a:pPr>
            <a:r>
              <a:rPr sz="1350">
                <a:solidFill>
                  <a:srgbClr val="202020"/>
                </a:solidFill>
              </a:rPr>
              <a:t>•  Independent free-form truthfulness evaluation.</a:t>
            </a:r>
          </a:p>
        </p:txBody>
      </p:sp>
      <p:sp>
        <p:nvSpPr>
          <p:cNvPr id="8" name="TextBox 7"/>
          <p:cNvSpPr txBox="1"/>
          <p:nvPr/>
        </p:nvSpPr>
        <p:spPr>
          <a:xfrm>
            <a:off x="502920" y="6565392"/>
            <a:ext cx="11155680" cy="256032"/>
          </a:xfrm>
          <a:prstGeom prst="rect">
            <a:avLst/>
          </a:prstGeom>
          <a:noFill/>
        </p:spPr>
        <p:txBody>
          <a:bodyPr wrap="square">
            <a:spAutoFit/>
          </a:bodyPr>
          <a:lstStyle/>
          <a:p>
            <a:pPr algn="l"/>
            <a:r>
              <a:rPr sz="900" b="0" i="1">
                <a:solidFill>
                  <a:srgbClr val="5B6470"/>
                </a:solidFill>
              </a:rPr>
              <a:t>ClaimGuard — Limitations and Future Work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960120"/>
          </a:xfrm>
          <a:prstGeom prst="rect">
            <a:avLst/>
          </a:prstGeom>
          <a:noFill/>
        </p:spPr>
        <p:txBody>
          <a:bodyPr wrap="square">
            <a:spAutoFit/>
          </a:bodyPr>
          <a:lstStyle/>
          <a:p>
            <a:r>
              <a:rPr sz="2800" b="1">
                <a:solidFill>
                  <a:srgbClr val="1F3A5F"/>
                </a:solidFill>
              </a:rPr>
              <a:t>Reproducibility &amp; Project Status</a:t>
            </a:r>
          </a:p>
        </p:txBody>
      </p:sp>
      <p:sp>
        <p:nvSpPr>
          <p:cNvPr id="3" name="Rectangle 2"/>
          <p:cNvSpPr/>
          <p:nvPr/>
        </p:nvSpPr>
        <p:spPr>
          <a:xfrm>
            <a:off x="502920" y="1078992"/>
            <a:ext cx="11155680" cy="279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3931920"/>
          </a:xfrm>
          <a:prstGeom prst="rect">
            <a:avLst/>
          </a:prstGeom>
          <a:noFill/>
        </p:spPr>
        <p:txBody>
          <a:bodyPr wrap="square">
            <a:spAutoFit/>
          </a:bodyPr>
          <a:lstStyle/>
          <a:p>
            <a:pPr>
              <a:spcAft>
                <a:spcPts val="1200"/>
              </a:spcAft>
            </a:pPr>
            <a:r>
              <a:rPr sz="1650">
                <a:solidFill>
                  <a:srgbClr val="202020"/>
                </a:solidFill>
              </a:rPr>
              <a:t>•  Deterministic inference — re-checked after every major evaluation run.</a:t>
            </a:r>
          </a:p>
          <a:p>
            <a:pPr>
              <a:spcAft>
                <a:spcPts val="1200"/>
              </a:spcAft>
            </a:pPr>
            <a:r>
              <a:rPr sz="1650">
                <a:solidFill>
                  <a:srgbClr val="202020"/>
                </a:solidFill>
              </a:rPr>
              <a:t>•  Dataset isolation, contamination checks, and leakage guards enforced structurally.</a:t>
            </a:r>
          </a:p>
          <a:p>
            <a:pPr>
              <a:spcAft>
                <a:spcPts val="1200"/>
              </a:spcAft>
            </a:pPr>
            <a:r>
              <a:rPr sz="1650">
                <a:solidFill>
                  <a:srgbClr val="202020"/>
                </a:solidFill>
              </a:rPr>
              <a:t>•  411+ tests passing through Step 21 (427 after Step 22's final documentation checks).</a:t>
            </a:r>
          </a:p>
          <a:p>
            <a:pPr>
              <a:spcAft>
                <a:spcPts val="1200"/>
              </a:spcAft>
            </a:pPr>
            <a:r>
              <a:rPr sz="1650">
                <a:solidFill>
                  <a:srgbClr val="202020"/>
                </a:solidFill>
              </a:rPr>
              <a:t>•  Frozen evaluation configurations — no evaluation-set tuning.</a:t>
            </a:r>
          </a:p>
          <a:p>
            <a:pPr>
              <a:spcAft>
                <a:spcPts val="1200"/>
              </a:spcAft>
            </a:pPr>
            <a:r>
              <a:rPr sz="1650">
                <a:solidFill>
                  <a:srgbClr val="202020"/>
                </a:solidFill>
              </a:rPr>
              <a:t>•  No model-weight changes during evaluation or documentation stages.</a:t>
            </a:r>
          </a:p>
          <a:p>
            <a:pPr>
              <a:spcAft>
                <a:spcPts val="1200"/>
              </a:spcAft>
            </a:pPr>
            <a:r>
              <a:rPr sz="1650">
                <a:solidFill>
                  <a:srgbClr val="202020"/>
                </a:solidFill>
              </a:rPr>
              <a:t>•  Complete experiment artifacts preserved (manifests, results, reproducibility metadata).</a:t>
            </a:r>
          </a:p>
          <a:p>
            <a:pPr>
              <a:spcAft>
                <a:spcPts val="1200"/>
              </a:spcAft>
            </a:pPr>
            <a:r>
              <a:rPr sz="1650">
                <a:solidFill>
                  <a:srgbClr val="202020"/>
                </a:solidFill>
              </a:rPr>
              <a:t>•  GitHub-ready source repository.</a:t>
            </a:r>
          </a:p>
        </p:txBody>
      </p:sp>
      <p:sp>
        <p:nvSpPr>
          <p:cNvPr id="5" name="Rectangle 4"/>
          <p:cNvSpPr/>
          <p:nvPr/>
        </p:nvSpPr>
        <p:spPr>
          <a:xfrm>
            <a:off x="640080" y="5394960"/>
            <a:ext cx="10881360" cy="914400"/>
          </a:xfrm>
          <a:prstGeom prst="rect">
            <a:avLst/>
          </a:prstGeom>
          <a:solidFill>
            <a:srgbClr val="DBE7F5"/>
          </a:solidFill>
          <a:ln w="15240">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i="1" b="1" sz="1600">
                <a:solidFill>
                  <a:srgbClr val="1F3A5F"/>
                </a:solidFill>
              </a:rPr>
              <a:t>"Experimental cycle complete; next work is architectural improvement, not retrospective tuning."</a:t>
            </a:r>
          </a:p>
        </p:txBody>
      </p:sp>
      <p:sp>
        <p:nvSpPr>
          <p:cNvPr id="6" name="TextBox 5"/>
          <p:cNvSpPr txBox="1"/>
          <p:nvPr/>
        </p:nvSpPr>
        <p:spPr>
          <a:xfrm>
            <a:off x="502920" y="6565392"/>
            <a:ext cx="11155680" cy="256032"/>
          </a:xfrm>
          <a:prstGeom prst="rect">
            <a:avLst/>
          </a:prstGeom>
          <a:noFill/>
        </p:spPr>
        <p:txBody>
          <a:bodyPr wrap="square">
            <a:spAutoFit/>
          </a:bodyPr>
          <a:lstStyle/>
          <a:p>
            <a:pPr algn="l"/>
            <a:r>
              <a:rPr sz="900" b="0" i="1">
                <a:solidFill>
                  <a:srgbClr val="5B6470"/>
                </a:solidFill>
              </a:rPr>
              <a:t>ClaimGuard — Reproducibility &amp; Status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332720" cy="1280160"/>
          </a:xfrm>
          <a:prstGeom prst="rect">
            <a:avLst/>
          </a:prstGeom>
          <a:noFill/>
        </p:spPr>
        <p:txBody>
          <a:bodyPr wrap="square">
            <a:spAutoFit/>
          </a:bodyPr>
          <a:lstStyle/>
          <a:p>
            <a:pPr algn="ctr"/>
            <a:r>
              <a:rPr sz="3000" b="1" i="0">
                <a:solidFill>
                  <a:srgbClr val="1F3A5F"/>
                </a:solidFill>
              </a:rPr>
              <a:t>ClaimGuard: From Building a Detector to
Understanding Why It Fails</a:t>
            </a:r>
          </a:p>
        </p:txBody>
      </p:sp>
      <p:sp>
        <p:nvSpPr>
          <p:cNvPr id="4" name="TextBox 3"/>
          <p:cNvSpPr txBox="1"/>
          <p:nvPr/>
        </p:nvSpPr>
        <p:spPr>
          <a:xfrm>
            <a:off x="2286000" y="2834640"/>
            <a:ext cx="7589520" cy="1828800"/>
          </a:xfrm>
          <a:prstGeom prst="rect">
            <a:avLst/>
          </a:prstGeom>
          <a:noFill/>
        </p:spPr>
        <p:txBody>
          <a:bodyPr wrap="square">
            <a:spAutoFit/>
          </a:bodyPr>
          <a:lstStyle/>
          <a:p>
            <a:pPr>
              <a:spcAft>
                <a:spcPts val="1600"/>
              </a:spcAft>
            </a:pPr>
            <a:r>
              <a:rPr sz="1900">
                <a:solidFill>
                  <a:srgbClr val="202020"/>
                </a:solidFill>
              </a:rPr>
              <a:t>•  Evidence relevance is fundamental.</a:t>
            </a:r>
          </a:p>
          <a:p>
            <a:pPr>
              <a:spcAft>
                <a:spcPts val="1600"/>
              </a:spcAft>
            </a:pPr>
            <a:r>
              <a:rPr sz="1900">
                <a:solidFill>
                  <a:srgbClr val="202020"/>
                </a:solidFill>
              </a:rPr>
              <a:t>•  Confidence must reflect evidence quality.</a:t>
            </a:r>
          </a:p>
          <a:p>
            <a:pPr>
              <a:spcAft>
                <a:spcPts val="1600"/>
              </a:spcAft>
            </a:pPr>
            <a:r>
              <a:rPr sz="1900">
                <a:solidFill>
                  <a:srgbClr val="202020"/>
                </a:solidFill>
              </a:rPr>
              <a:t>•  Correction should be gated by reliable uncertainty.</a:t>
            </a:r>
          </a:p>
        </p:txBody>
      </p:sp>
      <p:sp>
        <p:nvSpPr>
          <p:cNvPr id="5" name="TextBox 4"/>
          <p:cNvSpPr txBox="1"/>
          <p:nvPr/>
        </p:nvSpPr>
        <p:spPr>
          <a:xfrm>
            <a:off x="1371600" y="4937760"/>
            <a:ext cx="9418320" cy="822960"/>
          </a:xfrm>
          <a:prstGeom prst="rect">
            <a:avLst/>
          </a:prstGeom>
          <a:noFill/>
        </p:spPr>
        <p:txBody>
          <a:bodyPr wrap="square">
            <a:spAutoFit/>
          </a:bodyPr>
          <a:lstStyle/>
          <a:p>
            <a:pPr algn="ctr"/>
            <a:r>
              <a:rPr sz="1600" b="0" i="1">
                <a:solidFill>
                  <a:srgbClr val="2F7A78"/>
                </a:solidFill>
              </a:rPr>
              <a:t>Next step: redesign the evidence + uncertainty layer based on the experimentally identified failure modes.</a:t>
            </a:r>
          </a:p>
        </p:txBody>
      </p:sp>
      <p:sp>
        <p:nvSpPr>
          <p:cNvPr id="6" name="TextBox 5"/>
          <p:cNvSpPr txBox="1"/>
          <p:nvPr/>
        </p:nvSpPr>
        <p:spPr>
          <a:xfrm>
            <a:off x="1371600" y="5532120"/>
            <a:ext cx="9418320" cy="457200"/>
          </a:xfrm>
          <a:prstGeom prst="rect">
            <a:avLst/>
          </a:prstGeom>
          <a:noFill/>
        </p:spPr>
        <p:txBody>
          <a:bodyPr wrap="square">
            <a:spAutoFit/>
          </a:bodyPr>
          <a:lstStyle/>
          <a:p>
            <a:pPr algn="ctr"/>
            <a:r>
              <a:rPr sz="1200" b="1" i="0">
                <a:solidFill>
                  <a:srgbClr val="B3453C"/>
                </a:solidFill>
              </a:rPr>
              <a:t>(FUTURE WORK — not yet started)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960120"/>
          </a:xfrm>
          <a:prstGeom prst="rect">
            <a:avLst/>
          </a:prstGeom>
          <a:noFill/>
        </p:spPr>
        <p:txBody>
          <a:bodyPr wrap="square">
            <a:spAutoFit/>
          </a:bodyPr>
          <a:lstStyle/>
          <a:p>
            <a:r>
              <a:rPr sz="2800" b="1">
                <a:solidFill>
                  <a:srgbClr val="1F3A5F"/>
                </a:solidFill>
              </a:rPr>
              <a:t>Appendix — Anticipated Guide Questions (1/5)</a:t>
            </a:r>
          </a:p>
          <a:p>
            <a:r>
              <a:rPr sz="1400" i="1">
                <a:solidFill>
                  <a:srgbClr val="5B6470"/>
                </a:solidFill>
              </a:rPr>
              <a:t>Answers use only established project evidence — no invented claims.</a:t>
            </a:r>
          </a:p>
        </p:txBody>
      </p:sp>
      <p:sp>
        <p:nvSpPr>
          <p:cNvPr id="3" name="Rectangle 2"/>
          <p:cNvSpPr/>
          <p:nvPr/>
        </p:nvSpPr>
        <p:spPr>
          <a:xfrm>
            <a:off x="502920" y="1078992"/>
            <a:ext cx="11155680" cy="279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11064240" cy="365760"/>
          </a:xfrm>
          <a:prstGeom prst="rect">
            <a:avLst/>
          </a:prstGeom>
          <a:noFill/>
        </p:spPr>
        <p:txBody>
          <a:bodyPr wrap="square">
            <a:spAutoFit/>
          </a:bodyPr>
          <a:lstStyle/>
          <a:p>
            <a:r>
              <a:rPr b="1" sz="1500">
                <a:solidFill>
                  <a:srgbClr val="1F3A5F"/>
                </a:solidFill>
              </a:rPr>
              <a:t>Q1.  Why did you choose DeBERTa?</a:t>
            </a:r>
          </a:p>
        </p:txBody>
      </p:sp>
      <p:sp>
        <p:nvSpPr>
          <p:cNvPr id="5" name="TextBox 4"/>
          <p:cNvSpPr txBox="1"/>
          <p:nvPr/>
        </p:nvSpPr>
        <p:spPr>
          <a:xfrm>
            <a:off x="822960" y="1764792"/>
            <a:ext cx="10789920" cy="685800"/>
          </a:xfrm>
          <a:prstGeom prst="rect">
            <a:avLst/>
          </a:prstGeom>
          <a:noFill/>
        </p:spPr>
        <p:txBody>
          <a:bodyPr wrap="square">
            <a:spAutoFit/>
          </a:bodyPr>
          <a:lstStyle/>
          <a:p>
            <a:r>
              <a:rPr sz="1250">
                <a:solidFill>
                  <a:srgbClr val="202020"/>
                </a:solidFill>
              </a:rPr>
              <a:t>It's already trained on FEVER-NLI + MNLI + ANLI + LingNLI + WANLI (885K pairs), MIT licensed, and its 3-way labels map directly onto SUPPORTS/REFUTES/NEI. Small footprint (&lt;2GB VRAM) and a strong pretrained entailment representation we reuse via encoder/pooler transplant rather than training from scratch.</a:t>
            </a:r>
          </a:p>
        </p:txBody>
      </p:sp>
      <p:sp>
        <p:nvSpPr>
          <p:cNvPr id="6" name="TextBox 5"/>
          <p:cNvSpPr txBox="1"/>
          <p:nvPr/>
        </p:nvSpPr>
        <p:spPr>
          <a:xfrm>
            <a:off x="548640" y="2514600"/>
            <a:ext cx="11064240" cy="365760"/>
          </a:xfrm>
          <a:prstGeom prst="rect">
            <a:avLst/>
          </a:prstGeom>
          <a:noFill/>
        </p:spPr>
        <p:txBody>
          <a:bodyPr wrap="square">
            <a:spAutoFit/>
          </a:bodyPr>
          <a:lstStyle/>
          <a:p>
            <a:r>
              <a:rPr b="1" sz="1500">
                <a:solidFill>
                  <a:srgbClr val="1F3A5F"/>
                </a:solidFill>
              </a:rPr>
              <a:t>Q2.  Why Qwen3-8B?</a:t>
            </a:r>
          </a:p>
        </p:txBody>
      </p:sp>
      <p:sp>
        <p:nvSpPr>
          <p:cNvPr id="7" name="TextBox 6"/>
          <p:cNvSpPr txBox="1"/>
          <p:nvPr/>
        </p:nvSpPr>
        <p:spPr>
          <a:xfrm>
            <a:off x="822960" y="2862072"/>
            <a:ext cx="10789920" cy="685800"/>
          </a:xfrm>
          <a:prstGeom prst="rect">
            <a:avLst/>
          </a:prstGeom>
          <a:noFill/>
        </p:spPr>
        <p:txBody>
          <a:bodyPr wrap="square">
            <a:spAutoFit/>
          </a:bodyPr>
          <a:lstStyle/>
          <a:p>
            <a:r>
              <a:rPr sz="1250">
                <a:solidFill>
                  <a:srgbClr val="202020"/>
                </a:solidFill>
              </a:rPr>
              <a:t>Apache 2.0 license, strong instruction-following, and ~16GB BF16 weights — the smallest footprint among comparable 8B-class candidates, leaving headroom to run the whole pipeline (embedder + reranker + verifier + generator) concurrently on the shared GPU.</a:t>
            </a:r>
          </a:p>
        </p:txBody>
      </p:sp>
      <p:sp>
        <p:nvSpPr>
          <p:cNvPr id="8" name="TextBox 7"/>
          <p:cNvSpPr txBox="1"/>
          <p:nvPr/>
        </p:nvSpPr>
        <p:spPr>
          <a:xfrm>
            <a:off x="548640" y="3611880"/>
            <a:ext cx="11064240" cy="365760"/>
          </a:xfrm>
          <a:prstGeom prst="rect">
            <a:avLst/>
          </a:prstGeom>
          <a:noFill/>
        </p:spPr>
        <p:txBody>
          <a:bodyPr wrap="square">
            <a:spAutoFit/>
          </a:bodyPr>
          <a:lstStyle/>
          <a:p>
            <a:r>
              <a:rPr b="1" sz="1500">
                <a:solidFill>
                  <a:srgbClr val="1F3A5F"/>
                </a:solidFill>
              </a:rPr>
              <a:t>Q3.  Why BGE retrieval?</a:t>
            </a:r>
          </a:p>
        </p:txBody>
      </p:sp>
      <p:sp>
        <p:nvSpPr>
          <p:cNvPr id="9" name="TextBox 8"/>
          <p:cNvSpPr txBox="1"/>
          <p:nvPr/>
        </p:nvSpPr>
        <p:spPr>
          <a:xfrm>
            <a:off x="822960" y="3959352"/>
            <a:ext cx="10789920" cy="685800"/>
          </a:xfrm>
          <a:prstGeom prst="rect">
            <a:avLst/>
          </a:prstGeom>
          <a:noFill/>
        </p:spPr>
        <p:txBody>
          <a:bodyPr wrap="square">
            <a:spAutoFit/>
          </a:bodyPr>
          <a:lstStyle/>
          <a:p>
            <a:r>
              <a:rPr sz="1250">
                <a:solidFill>
                  <a:srgbClr val="202020"/>
                </a:solidFill>
              </a:rPr>
              <a:t>The task is English-only, so we didn't need bge-m3's multilingual/sparse machinery. bge-large-en-v1.5 is small (&lt;1.5GB), integrates natively with sentence-transformers, and has established retrieval quality.</a:t>
            </a:r>
          </a:p>
        </p:txBody>
      </p:sp>
      <p:sp>
        <p:nvSpPr>
          <p:cNvPr id="10" name="TextBox 9"/>
          <p:cNvSpPr txBox="1"/>
          <p:nvPr/>
        </p:nvSpPr>
        <p:spPr>
          <a:xfrm>
            <a:off x="548640" y="4709160"/>
            <a:ext cx="11064240" cy="365760"/>
          </a:xfrm>
          <a:prstGeom prst="rect">
            <a:avLst/>
          </a:prstGeom>
          <a:noFill/>
        </p:spPr>
        <p:txBody>
          <a:bodyPr wrap="square">
            <a:spAutoFit/>
          </a:bodyPr>
          <a:lstStyle/>
          <a:p>
            <a:r>
              <a:rPr b="1" sz="1500">
                <a:solidFill>
                  <a:srgbClr val="1F3A5F"/>
                </a:solidFill>
              </a:rPr>
              <a:t>Q4.  Why use FEVER for verifier development?</a:t>
            </a:r>
          </a:p>
        </p:txBody>
      </p:sp>
      <p:sp>
        <p:nvSpPr>
          <p:cNvPr id="11" name="TextBox 10"/>
          <p:cNvSpPr txBox="1"/>
          <p:nvPr/>
        </p:nvSpPr>
        <p:spPr>
          <a:xfrm>
            <a:off x="822960" y="5056632"/>
            <a:ext cx="10789920" cy="685800"/>
          </a:xfrm>
          <a:prstGeom prst="rect">
            <a:avLst/>
          </a:prstGeom>
          <a:noFill/>
        </p:spPr>
        <p:txBody>
          <a:bodyPr wrap="square">
            <a:spAutoFit/>
          </a:bodyPr>
          <a:lstStyle/>
          <a:p>
            <a:r>
              <a:rPr sz="1250">
                <a:solidFill>
                  <a:srgbClr val="202020"/>
                </a:solidFill>
              </a:rPr>
              <a:t>It's a large, well-established claim-verification dataset (145K+ raw claims) with a SUPPORTS/REFUTES/NEI structure that maps directly onto the entailment/contradiction verification task, with a clear license (CC BY-SA 3.0 + GNU FDL).</a:t>
            </a:r>
          </a:p>
        </p:txBody>
      </p:sp>
      <p:sp>
        <p:nvSpPr>
          <p:cNvPr id="12" name="TextBox 11"/>
          <p:cNvSpPr txBox="1"/>
          <p:nvPr/>
        </p:nvSpPr>
        <p:spPr>
          <a:xfrm>
            <a:off x="502920" y="6565392"/>
            <a:ext cx="11155680" cy="256032"/>
          </a:xfrm>
          <a:prstGeom prst="rect">
            <a:avLst/>
          </a:prstGeom>
          <a:noFill/>
        </p:spPr>
        <p:txBody>
          <a:bodyPr wrap="square">
            <a:spAutoFit/>
          </a:bodyPr>
          <a:lstStyle/>
          <a:p>
            <a:pPr algn="l"/>
            <a:r>
              <a:rPr sz="900" b="0" i="1">
                <a:solidFill>
                  <a:srgbClr val="5B6470"/>
                </a:solidFill>
              </a:rPr>
              <a:t>ClaimGuard — Appendix (Q&amp;A)  |  Not part of the 15-20 minute core presentation.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960120"/>
          </a:xfrm>
          <a:prstGeom prst="rect">
            <a:avLst/>
          </a:prstGeom>
          <a:noFill/>
        </p:spPr>
        <p:txBody>
          <a:bodyPr wrap="square">
            <a:spAutoFit/>
          </a:bodyPr>
          <a:lstStyle/>
          <a:p>
            <a:r>
              <a:rPr sz="2800" b="1">
                <a:solidFill>
                  <a:srgbClr val="1F3A5F"/>
                </a:solidFill>
              </a:rPr>
              <a:t>Appendix — Anticipated Guide Questions (2/5)</a:t>
            </a:r>
          </a:p>
          <a:p>
            <a:r>
              <a:rPr sz="1400" i="1">
                <a:solidFill>
                  <a:srgbClr val="5B6470"/>
                </a:solidFill>
              </a:rPr>
              <a:t>Answers use only established project evidence — no invented claims.</a:t>
            </a:r>
          </a:p>
        </p:txBody>
      </p:sp>
      <p:sp>
        <p:nvSpPr>
          <p:cNvPr id="3" name="Rectangle 2"/>
          <p:cNvSpPr/>
          <p:nvPr/>
        </p:nvSpPr>
        <p:spPr>
          <a:xfrm>
            <a:off x="502920" y="1078992"/>
            <a:ext cx="11155680" cy="279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11064240" cy="365760"/>
          </a:xfrm>
          <a:prstGeom prst="rect">
            <a:avLst/>
          </a:prstGeom>
          <a:noFill/>
        </p:spPr>
        <p:txBody>
          <a:bodyPr wrap="square">
            <a:spAutoFit/>
          </a:bodyPr>
          <a:lstStyle/>
          <a:p>
            <a:r>
              <a:rPr b="1" sz="1500">
                <a:solidFill>
                  <a:srgbClr val="1F3A5F"/>
                </a:solidFill>
              </a:rPr>
              <a:t>Q5.  Why is the verifier binary rather than 3-class?</a:t>
            </a:r>
          </a:p>
        </p:txBody>
      </p:sp>
      <p:sp>
        <p:nvSpPr>
          <p:cNvPr id="5" name="TextBox 4"/>
          <p:cNvSpPr txBox="1"/>
          <p:nvPr/>
        </p:nvSpPr>
        <p:spPr>
          <a:xfrm>
            <a:off x="822960" y="1764792"/>
            <a:ext cx="10789920" cy="685800"/>
          </a:xfrm>
          <a:prstGeom prst="rect">
            <a:avLst/>
          </a:prstGeom>
          <a:noFill/>
        </p:spPr>
        <p:txBody>
          <a:bodyPr wrap="square">
            <a:spAutoFit/>
          </a:bodyPr>
          <a:lstStyle/>
          <a:p>
            <a:r>
              <a:rPr sz="1250">
                <a:solidFill>
                  <a:srgbClr val="202020"/>
                </a:solidFill>
              </a:rPr>
              <a:t>Step 11 investigated a neutral-class strategy and found no legitimate, non-fabricated source of neutral examples within this project's constraints. Rather than invent synthetic neutral premises, we kept the verifier strictly binary and let the decision policy's ABSTAIN outcome handle 'insufficiently supported' downstream instead.</a:t>
            </a:r>
          </a:p>
        </p:txBody>
      </p:sp>
      <p:sp>
        <p:nvSpPr>
          <p:cNvPr id="6" name="TextBox 5"/>
          <p:cNvSpPr txBox="1"/>
          <p:nvPr/>
        </p:nvSpPr>
        <p:spPr>
          <a:xfrm>
            <a:off x="548640" y="2514600"/>
            <a:ext cx="11064240" cy="365760"/>
          </a:xfrm>
          <a:prstGeom prst="rect">
            <a:avLst/>
          </a:prstGeom>
          <a:noFill/>
        </p:spPr>
        <p:txBody>
          <a:bodyPr wrap="square">
            <a:spAutoFit/>
          </a:bodyPr>
          <a:lstStyle/>
          <a:p>
            <a:r>
              <a:rPr b="1" sz="1500">
                <a:solidFill>
                  <a:srgbClr val="1F3A5F"/>
                </a:solidFill>
              </a:rPr>
              <a:t>Q6.  Why was RAGTruth kept completely held out?</a:t>
            </a:r>
          </a:p>
        </p:txBody>
      </p:sp>
      <p:sp>
        <p:nvSpPr>
          <p:cNvPr id="7" name="TextBox 6"/>
          <p:cNvSpPr txBox="1"/>
          <p:nvPr/>
        </p:nvSpPr>
        <p:spPr>
          <a:xfrm>
            <a:off x="822960" y="2862072"/>
            <a:ext cx="10789920" cy="685800"/>
          </a:xfrm>
          <a:prstGeom prst="rect">
            <a:avLst/>
          </a:prstGeom>
          <a:noFill/>
        </p:spPr>
        <p:txBody>
          <a:bodyPr wrap="square">
            <a:spAutoFit/>
          </a:bodyPr>
          <a:lstStyle/>
          <a:p>
            <a:r>
              <a:rPr sz="1250">
                <a:solidFill>
                  <a:srgbClr val="202020"/>
                </a:solidFill>
              </a:rPr>
              <a:t>It's the project's cleanest end-to-end effectiveness benchmark — FEVER and TruthfulQA are old, ubiquitous benchmarks likely present in generator pretraining data, so RAGTruth gives the least contaminated signal. This is enforced by RoleViolationError guards plus AST and behavioral tests, not just convention.</a:t>
            </a:r>
          </a:p>
        </p:txBody>
      </p:sp>
      <p:sp>
        <p:nvSpPr>
          <p:cNvPr id="8" name="TextBox 7"/>
          <p:cNvSpPr txBox="1"/>
          <p:nvPr/>
        </p:nvSpPr>
        <p:spPr>
          <a:xfrm>
            <a:off x="548640" y="3611880"/>
            <a:ext cx="11064240" cy="365760"/>
          </a:xfrm>
          <a:prstGeom prst="rect">
            <a:avLst/>
          </a:prstGeom>
          <a:noFill/>
        </p:spPr>
        <p:txBody>
          <a:bodyPr wrap="square">
            <a:spAutoFit/>
          </a:bodyPr>
          <a:lstStyle/>
          <a:p>
            <a:r>
              <a:rPr b="1" sz="1500">
                <a:solidFill>
                  <a:srgbClr val="1F3A5F"/>
                </a:solidFill>
              </a:rPr>
              <a:t>Q7.  Why is RAGTruth performance below the majority baseline?</a:t>
            </a:r>
          </a:p>
        </p:txBody>
      </p:sp>
      <p:sp>
        <p:nvSpPr>
          <p:cNvPr id="9" name="TextBox 8"/>
          <p:cNvSpPr txBox="1"/>
          <p:nvPr/>
        </p:nvSpPr>
        <p:spPr>
          <a:xfrm>
            <a:off x="822960" y="3959352"/>
            <a:ext cx="10789920" cy="685800"/>
          </a:xfrm>
          <a:prstGeom prst="rect">
            <a:avLst/>
          </a:prstGeom>
          <a:noFill/>
        </p:spPr>
        <p:txBody>
          <a:bodyPr wrap="square">
            <a:spAutoFit/>
          </a:bodyPr>
          <a:lstStyle/>
          <a:p>
            <a:r>
              <a:rPr sz="1250">
                <a:solidFill>
                  <a:srgbClr val="202020"/>
                </a:solidFill>
              </a:rPr>
              <a:t>Controlled ablations trace it to a retrieval-corpus domain mismatch (FEVER/Wikipedia vs. RAGTruth's news/business/QA text) compounded by a verifier discrimination failure on out-of-domain evidence and a decision policy that essentially never abstains — a compounding, not single-component, failure.</a:t>
            </a:r>
          </a:p>
        </p:txBody>
      </p:sp>
      <p:sp>
        <p:nvSpPr>
          <p:cNvPr id="10" name="TextBox 9"/>
          <p:cNvSpPr txBox="1"/>
          <p:nvPr/>
        </p:nvSpPr>
        <p:spPr>
          <a:xfrm>
            <a:off x="548640" y="4709160"/>
            <a:ext cx="11064240" cy="365760"/>
          </a:xfrm>
          <a:prstGeom prst="rect">
            <a:avLst/>
          </a:prstGeom>
          <a:noFill/>
        </p:spPr>
        <p:txBody>
          <a:bodyPr wrap="square">
            <a:spAutoFit/>
          </a:bodyPr>
          <a:lstStyle/>
          <a:p>
            <a:r>
              <a:rPr b="1" sz="1500">
                <a:solidFill>
                  <a:srgbClr val="1F3A5F"/>
                </a:solidFill>
              </a:rPr>
              <a:t>Q8.  Why not simply add RAGTruth documents to the retrieval corpus?</a:t>
            </a:r>
          </a:p>
        </p:txBody>
      </p:sp>
      <p:sp>
        <p:nvSpPr>
          <p:cNvPr id="11" name="TextBox 10"/>
          <p:cNvSpPr txBox="1"/>
          <p:nvPr/>
        </p:nvSpPr>
        <p:spPr>
          <a:xfrm>
            <a:off x="822960" y="5056632"/>
            <a:ext cx="10789920" cy="685800"/>
          </a:xfrm>
          <a:prstGeom prst="rect">
            <a:avLst/>
          </a:prstGeom>
          <a:noFill/>
        </p:spPr>
        <p:txBody>
          <a:bodyPr wrap="square">
            <a:spAutoFit/>
          </a:bodyPr>
          <a:lstStyle/>
          <a:p>
            <a:r>
              <a:rPr sz="1250">
                <a:solidFill>
                  <a:srgbClr val="202020"/>
                </a:solidFill>
              </a:rPr>
              <a:t>That's identified future work, not attempted here — it would directly test the domain-mismatch hypothesis, but needs careful protocol design so it tests generalization rather than becoming a leakage shortcut. Explicitly out of scope for the steps completed so far.</a:t>
            </a:r>
          </a:p>
        </p:txBody>
      </p:sp>
      <p:sp>
        <p:nvSpPr>
          <p:cNvPr id="12" name="TextBox 11"/>
          <p:cNvSpPr txBox="1"/>
          <p:nvPr/>
        </p:nvSpPr>
        <p:spPr>
          <a:xfrm>
            <a:off x="502920" y="6565392"/>
            <a:ext cx="11155680" cy="256032"/>
          </a:xfrm>
          <a:prstGeom prst="rect">
            <a:avLst/>
          </a:prstGeom>
          <a:noFill/>
        </p:spPr>
        <p:txBody>
          <a:bodyPr wrap="square">
            <a:spAutoFit/>
          </a:bodyPr>
          <a:lstStyle/>
          <a:p>
            <a:pPr algn="l"/>
            <a:r>
              <a:rPr sz="900" b="0" i="1">
                <a:solidFill>
                  <a:srgbClr val="5B6470"/>
                </a:solidFill>
              </a:rPr>
              <a:t>ClaimGuard — Appendix (Q&amp;A)  |  Not part of the 15-20 minute core presentation.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960120"/>
          </a:xfrm>
          <a:prstGeom prst="rect">
            <a:avLst/>
          </a:prstGeom>
          <a:noFill/>
        </p:spPr>
        <p:txBody>
          <a:bodyPr wrap="square">
            <a:spAutoFit/>
          </a:bodyPr>
          <a:lstStyle/>
          <a:p>
            <a:r>
              <a:rPr sz="2800" b="1">
                <a:solidFill>
                  <a:srgbClr val="1F3A5F"/>
                </a:solidFill>
              </a:rPr>
              <a:t>Appendix — Anticipated Guide Questions (3/5)</a:t>
            </a:r>
          </a:p>
          <a:p>
            <a:r>
              <a:rPr sz="1400" i="1">
                <a:solidFill>
                  <a:srgbClr val="5B6470"/>
                </a:solidFill>
              </a:rPr>
              <a:t>Answers use only established project evidence — no invented claims.</a:t>
            </a:r>
          </a:p>
        </p:txBody>
      </p:sp>
      <p:sp>
        <p:nvSpPr>
          <p:cNvPr id="3" name="Rectangle 2"/>
          <p:cNvSpPr/>
          <p:nvPr/>
        </p:nvSpPr>
        <p:spPr>
          <a:xfrm>
            <a:off x="502920" y="1078992"/>
            <a:ext cx="11155680" cy="279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11064240" cy="365760"/>
          </a:xfrm>
          <a:prstGeom prst="rect">
            <a:avLst/>
          </a:prstGeom>
          <a:noFill/>
        </p:spPr>
        <p:txBody>
          <a:bodyPr wrap="square">
            <a:spAutoFit/>
          </a:bodyPr>
          <a:lstStyle/>
          <a:p>
            <a:r>
              <a:rPr b="1" sz="1500">
                <a:solidFill>
                  <a:srgbClr val="1F3A5F"/>
                </a:solidFill>
              </a:rPr>
              <a:t>Q9.  Why did the reranker not help?</a:t>
            </a:r>
          </a:p>
        </p:txBody>
      </p:sp>
      <p:sp>
        <p:nvSpPr>
          <p:cNvPr id="5" name="TextBox 4"/>
          <p:cNvSpPr txBox="1"/>
          <p:nvPr/>
        </p:nvSpPr>
        <p:spPr>
          <a:xfrm>
            <a:off x="822960" y="1764792"/>
            <a:ext cx="10789920" cy="685800"/>
          </a:xfrm>
          <a:prstGeom prst="rect">
            <a:avLst/>
          </a:prstGeom>
          <a:noFill/>
        </p:spPr>
        <p:txBody>
          <a:bodyPr wrap="square">
            <a:spAutoFit/>
          </a:bodyPr>
          <a:lstStyle/>
          <a:p>
            <a:r>
              <a:rPr sz="1250">
                <a:solidFill>
                  <a:srgbClr val="202020"/>
                </a:solidFill>
              </a:rPr>
              <a:t>The controlled ablation shows the reranker changes WHICH evidence is selected for 100% of responses, but produces no measurable change in downstream classification metrics — reordering already-irrelevant candidates (due to corpus mismatch) can't make them relevant.</a:t>
            </a:r>
          </a:p>
        </p:txBody>
      </p:sp>
      <p:sp>
        <p:nvSpPr>
          <p:cNvPr id="6" name="TextBox 5"/>
          <p:cNvSpPr txBox="1"/>
          <p:nvPr/>
        </p:nvSpPr>
        <p:spPr>
          <a:xfrm>
            <a:off x="548640" y="2514600"/>
            <a:ext cx="11064240" cy="365760"/>
          </a:xfrm>
          <a:prstGeom prst="rect">
            <a:avLst/>
          </a:prstGeom>
          <a:noFill/>
        </p:spPr>
        <p:txBody>
          <a:bodyPr wrap="square">
            <a:spAutoFit/>
          </a:bodyPr>
          <a:lstStyle/>
          <a:p>
            <a:r>
              <a:rPr b="1" sz="1500">
                <a:solidFill>
                  <a:srgbClr val="1F3A5F"/>
                </a:solidFill>
              </a:rPr>
              <a:t>Q10.  Why does the verifier become overconfident?</a:t>
            </a:r>
          </a:p>
        </p:txBody>
      </p:sp>
      <p:sp>
        <p:nvSpPr>
          <p:cNvPr id="7" name="TextBox 6"/>
          <p:cNvSpPr txBox="1"/>
          <p:nvPr/>
        </p:nvSpPr>
        <p:spPr>
          <a:xfrm>
            <a:off x="822960" y="2862072"/>
            <a:ext cx="10789920" cy="685800"/>
          </a:xfrm>
          <a:prstGeom prst="rect">
            <a:avLst/>
          </a:prstGeom>
          <a:noFill/>
        </p:spPr>
        <p:txBody>
          <a:bodyPr wrap="square">
            <a:spAutoFit/>
          </a:bodyPr>
          <a:lstStyle/>
          <a:p>
            <a:r>
              <a:rPr sz="1250">
                <a:solidFill>
                  <a:srgbClr val="202020"/>
                </a:solidFill>
              </a:rPr>
              <a:t>It's well-calibrated ONLY on FEVER gold evidence. On out-of-domain evidence that's topically/lexically similar to a claim, it scores that evidence with the same near-1.0 confidence as genuine gold evidence — a discrimination failure, not a raw calibration failure, since there's no non-gold ground truth to penalize this during training.</a:t>
            </a:r>
          </a:p>
        </p:txBody>
      </p:sp>
      <p:sp>
        <p:nvSpPr>
          <p:cNvPr id="8" name="TextBox 7"/>
          <p:cNvSpPr txBox="1"/>
          <p:nvPr/>
        </p:nvSpPr>
        <p:spPr>
          <a:xfrm>
            <a:off x="548640" y="3611880"/>
            <a:ext cx="11064240" cy="365760"/>
          </a:xfrm>
          <a:prstGeom prst="rect">
            <a:avLst/>
          </a:prstGeom>
          <a:noFill/>
        </p:spPr>
        <p:txBody>
          <a:bodyPr wrap="square">
            <a:spAutoFit/>
          </a:bodyPr>
          <a:lstStyle/>
          <a:p>
            <a:r>
              <a:rPr b="1" sz="1500">
                <a:solidFill>
                  <a:srgbClr val="1F3A5F"/>
                </a:solidFill>
              </a:rPr>
              <a:t>Q11.  Why is there zero abstention?</a:t>
            </a:r>
          </a:p>
        </p:txBody>
      </p:sp>
      <p:sp>
        <p:nvSpPr>
          <p:cNvPr id="9" name="TextBox 8"/>
          <p:cNvSpPr txBox="1"/>
          <p:nvPr/>
        </p:nvSpPr>
        <p:spPr>
          <a:xfrm>
            <a:off x="822960" y="3959352"/>
            <a:ext cx="10789920" cy="685800"/>
          </a:xfrm>
          <a:prstGeom prst="rect">
            <a:avLst/>
          </a:prstGeom>
          <a:noFill/>
        </p:spPr>
        <p:txBody>
          <a:bodyPr wrap="square">
            <a:spAutoFit/>
          </a:bodyPr>
          <a:lstStyle/>
          <a:p>
            <a:r>
              <a:rPr sz="1250">
                <a:solidFill>
                  <a:srgbClr val="202020"/>
                </a:solidFill>
              </a:rPr>
              <a:t>The decision policy's fixed thresholds essentially never produce a 'neither confident' outcome, because the verifier's own confidence distribution is extreme and bimodal — it rarely outputs a genuinely ambiguous, mid-range score in practice.</a:t>
            </a:r>
          </a:p>
        </p:txBody>
      </p:sp>
      <p:sp>
        <p:nvSpPr>
          <p:cNvPr id="10" name="TextBox 9"/>
          <p:cNvSpPr txBox="1"/>
          <p:nvPr/>
        </p:nvSpPr>
        <p:spPr>
          <a:xfrm>
            <a:off x="548640" y="4709160"/>
            <a:ext cx="11064240" cy="365760"/>
          </a:xfrm>
          <a:prstGeom prst="rect">
            <a:avLst/>
          </a:prstGeom>
          <a:noFill/>
        </p:spPr>
        <p:txBody>
          <a:bodyPr wrap="square">
            <a:spAutoFit/>
          </a:bodyPr>
          <a:lstStyle/>
          <a:p>
            <a:r>
              <a:rPr b="1" sz="1500">
                <a:solidFill>
                  <a:srgbClr val="1F3A5F"/>
                </a:solidFill>
              </a:rPr>
              <a:t>Q12.  Why does correction sometimes make answers worse?</a:t>
            </a:r>
          </a:p>
        </p:txBody>
      </p:sp>
      <p:sp>
        <p:nvSpPr>
          <p:cNvPr id="11" name="TextBox 10"/>
          <p:cNvSpPr txBox="1"/>
          <p:nvPr/>
        </p:nvSpPr>
        <p:spPr>
          <a:xfrm>
            <a:off x="822960" y="5056632"/>
            <a:ext cx="10789920" cy="685800"/>
          </a:xfrm>
          <a:prstGeom prst="rect">
            <a:avLst/>
          </a:prstGeom>
          <a:noFill/>
        </p:spPr>
        <p:txBody>
          <a:bodyPr wrap="square">
            <a:spAutoFit/>
          </a:bodyPr>
          <a:lstStyle/>
          <a:p>
            <a:r>
              <a:rPr sz="1250">
                <a:solidFill>
                  <a:srgbClr val="202020"/>
                </a:solidFill>
              </a:rPr>
              <a:t>Correction triggers whenever the decision policy says CORRECT. Many of those triggers are false positives — confidently-wrong flags on already-correct answers — so the correction loop faithfully 'fixes' answers that didn't need fixing. This is a downstream consequence of upstream miscalibration, not an independent defect in the correction logic.</a:t>
            </a:r>
          </a:p>
        </p:txBody>
      </p:sp>
      <p:sp>
        <p:nvSpPr>
          <p:cNvPr id="12" name="TextBox 11"/>
          <p:cNvSpPr txBox="1"/>
          <p:nvPr/>
        </p:nvSpPr>
        <p:spPr>
          <a:xfrm>
            <a:off x="502920" y="6565392"/>
            <a:ext cx="11155680" cy="256032"/>
          </a:xfrm>
          <a:prstGeom prst="rect">
            <a:avLst/>
          </a:prstGeom>
          <a:noFill/>
        </p:spPr>
        <p:txBody>
          <a:bodyPr wrap="square">
            <a:spAutoFit/>
          </a:bodyPr>
          <a:lstStyle/>
          <a:p>
            <a:pPr algn="l"/>
            <a:r>
              <a:rPr sz="900" b="0" i="1">
                <a:solidFill>
                  <a:srgbClr val="5B6470"/>
                </a:solidFill>
              </a:rPr>
              <a:t>ClaimGuard — Appendix (Q&amp;A)  |  Not part of the 15-20 minute core presentation.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960120"/>
          </a:xfrm>
          <a:prstGeom prst="rect">
            <a:avLst/>
          </a:prstGeom>
          <a:noFill/>
        </p:spPr>
        <p:txBody>
          <a:bodyPr wrap="square">
            <a:spAutoFit/>
          </a:bodyPr>
          <a:lstStyle/>
          <a:p>
            <a:r>
              <a:rPr sz="2800" b="1">
                <a:solidFill>
                  <a:srgbClr val="1F3A5F"/>
                </a:solidFill>
              </a:rPr>
              <a:t>Appendix — Anticipated Guide Questions (4/5)</a:t>
            </a:r>
          </a:p>
          <a:p>
            <a:r>
              <a:rPr sz="1400" i="1">
                <a:solidFill>
                  <a:srgbClr val="5B6470"/>
                </a:solidFill>
              </a:rPr>
              <a:t>Answers use only established project evidence — no invented claims.</a:t>
            </a:r>
          </a:p>
        </p:txBody>
      </p:sp>
      <p:sp>
        <p:nvSpPr>
          <p:cNvPr id="3" name="Rectangle 2"/>
          <p:cNvSpPr/>
          <p:nvPr/>
        </p:nvSpPr>
        <p:spPr>
          <a:xfrm>
            <a:off x="502920" y="1078992"/>
            <a:ext cx="11155680" cy="279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11064240" cy="365760"/>
          </a:xfrm>
          <a:prstGeom prst="rect">
            <a:avLst/>
          </a:prstGeom>
          <a:noFill/>
        </p:spPr>
        <p:txBody>
          <a:bodyPr wrap="square">
            <a:spAutoFit/>
          </a:bodyPr>
          <a:lstStyle/>
          <a:p>
            <a:r>
              <a:rPr b="1" sz="1500">
                <a:solidFill>
                  <a:srgbClr val="1F3A5F"/>
                </a:solidFill>
              </a:rPr>
              <a:t>Q13.  Why was TruthfulQA not given a free-form truthfulness score?</a:t>
            </a:r>
          </a:p>
        </p:txBody>
      </p:sp>
      <p:sp>
        <p:nvSpPr>
          <p:cNvPr id="5" name="TextBox 4"/>
          <p:cNvSpPr txBox="1"/>
          <p:nvPr/>
        </p:nvSpPr>
        <p:spPr>
          <a:xfrm>
            <a:off x="822960" y="1764792"/>
            <a:ext cx="10789920" cy="685800"/>
          </a:xfrm>
          <a:prstGeom prst="rect">
            <a:avLst/>
          </a:prstGeom>
          <a:noFill/>
        </p:spPr>
        <p:txBody>
          <a:bodyPr wrap="square">
            <a:spAutoFit/>
          </a:bodyPr>
          <a:lstStyle/>
          <a:p>
            <a:r>
              <a:rPr sz="1250">
                <a:solidFill>
                  <a:srgbClr val="202020"/>
                </a:solidFill>
              </a:rPr>
              <a:t>No approved automatic judge exists in this project (no human raters, no GPT-judge access), and inventing a semantic-similarity heuristic was explicitly out of scope. This is a disclosed protocol gap, not silently filled with a fabricated metric.</a:t>
            </a:r>
          </a:p>
        </p:txBody>
      </p:sp>
      <p:sp>
        <p:nvSpPr>
          <p:cNvPr id="6" name="TextBox 5"/>
          <p:cNvSpPr txBox="1"/>
          <p:nvPr/>
        </p:nvSpPr>
        <p:spPr>
          <a:xfrm>
            <a:off x="548640" y="2514600"/>
            <a:ext cx="11064240" cy="365760"/>
          </a:xfrm>
          <a:prstGeom prst="rect">
            <a:avLst/>
          </a:prstGeom>
          <a:noFill/>
        </p:spPr>
        <p:txBody>
          <a:bodyPr wrap="square">
            <a:spAutoFit/>
          </a:bodyPr>
          <a:lstStyle/>
          <a:p>
            <a:r>
              <a:rPr b="1" sz="1500">
                <a:solidFill>
                  <a:srgbClr val="1F3A5F"/>
                </a:solidFill>
              </a:rPr>
              <a:t>Q14.  What is the main contribution if the final system does not outperform the baseline?</a:t>
            </a:r>
          </a:p>
        </p:txBody>
      </p:sp>
      <p:sp>
        <p:nvSpPr>
          <p:cNvPr id="7" name="TextBox 6"/>
          <p:cNvSpPr txBox="1"/>
          <p:nvPr/>
        </p:nvSpPr>
        <p:spPr>
          <a:xfrm>
            <a:off x="822960" y="2862072"/>
            <a:ext cx="10789920" cy="685800"/>
          </a:xfrm>
          <a:prstGeom prst="rect">
            <a:avLst/>
          </a:prstGeom>
          <a:noFill/>
        </p:spPr>
        <p:txBody>
          <a:bodyPr wrap="square">
            <a:spAutoFit/>
          </a:bodyPr>
          <a:lstStyle/>
          <a:p>
            <a:r>
              <a:rPr sz="1250">
                <a:solidFill>
                  <a:srgbClr val="202020"/>
                </a:solidFill>
              </a:rPr>
              <a:t>A rigorous, contamination-checked, gold-isolated end-to-end integration and evaluation that isolates WHY this architecture fails out-of-domain, via controlled ablation — a scientifically useful negative/diagnostic result and a concrete roadmap, not a working detector.</a:t>
            </a:r>
          </a:p>
        </p:txBody>
      </p:sp>
      <p:sp>
        <p:nvSpPr>
          <p:cNvPr id="8" name="TextBox 7"/>
          <p:cNvSpPr txBox="1"/>
          <p:nvPr/>
        </p:nvSpPr>
        <p:spPr>
          <a:xfrm>
            <a:off x="548640" y="3611880"/>
            <a:ext cx="11064240" cy="365760"/>
          </a:xfrm>
          <a:prstGeom prst="rect">
            <a:avLst/>
          </a:prstGeom>
          <a:noFill/>
        </p:spPr>
        <p:txBody>
          <a:bodyPr wrap="square">
            <a:spAutoFit/>
          </a:bodyPr>
          <a:lstStyle/>
          <a:p>
            <a:r>
              <a:rPr b="1" sz="1500">
                <a:solidFill>
                  <a:srgbClr val="1F3A5F"/>
                </a:solidFill>
              </a:rPr>
              <a:t>Q15.  What would you change in the next version?</a:t>
            </a:r>
          </a:p>
        </p:txBody>
      </p:sp>
      <p:sp>
        <p:nvSpPr>
          <p:cNvPr id="9" name="TextBox 8"/>
          <p:cNvSpPr txBox="1"/>
          <p:nvPr/>
        </p:nvSpPr>
        <p:spPr>
          <a:xfrm>
            <a:off x="822960" y="3959352"/>
            <a:ext cx="10789920" cy="685800"/>
          </a:xfrm>
          <a:prstGeom prst="rect">
            <a:avLst/>
          </a:prstGeom>
          <a:noFill/>
        </p:spPr>
        <p:txBody>
          <a:bodyPr wrap="square">
            <a:spAutoFit/>
          </a:bodyPr>
          <a:lstStyle/>
          <a:p>
            <a:r>
              <a:rPr sz="1250">
                <a:solidFill>
                  <a:srgbClr val="202020"/>
                </a:solidFill>
              </a:rPr>
              <a:t>Rebuild/augment the retrieval corpus with in-domain sources; test whether verifier overconfidence persists when retrieval is held at known-good quality; move to a learned/calibrated decision policy for out-of-domain evidence; add an approved free-form truthfulness judge; add per-evidence relevance annotation.</a:t>
            </a:r>
          </a:p>
        </p:txBody>
      </p:sp>
      <p:sp>
        <p:nvSpPr>
          <p:cNvPr id="10" name="TextBox 9"/>
          <p:cNvSpPr txBox="1"/>
          <p:nvPr/>
        </p:nvSpPr>
        <p:spPr>
          <a:xfrm>
            <a:off x="548640" y="4709160"/>
            <a:ext cx="11064240" cy="365760"/>
          </a:xfrm>
          <a:prstGeom prst="rect">
            <a:avLst/>
          </a:prstGeom>
          <a:noFill/>
        </p:spPr>
        <p:txBody>
          <a:bodyPr wrap="square">
            <a:spAutoFit/>
          </a:bodyPr>
          <a:lstStyle/>
          <a:p>
            <a:r>
              <a:rPr b="1" sz="1500">
                <a:solidFill>
                  <a:srgbClr val="1F3A5F"/>
                </a:solidFill>
              </a:rPr>
              <a:t>Q16.  Is the problem the verifier or the retrieval system?</a:t>
            </a:r>
          </a:p>
        </p:txBody>
      </p:sp>
      <p:sp>
        <p:nvSpPr>
          <p:cNvPr id="11" name="TextBox 10"/>
          <p:cNvSpPr txBox="1"/>
          <p:nvPr/>
        </p:nvSpPr>
        <p:spPr>
          <a:xfrm>
            <a:off x="822960" y="5056632"/>
            <a:ext cx="10789920" cy="685800"/>
          </a:xfrm>
          <a:prstGeom prst="rect">
            <a:avLst/>
          </a:prstGeom>
          <a:noFill/>
        </p:spPr>
        <p:txBody>
          <a:bodyPr wrap="square">
            <a:spAutoFit/>
          </a:bodyPr>
          <a:lstStyle/>
          <a:p>
            <a:r>
              <a:rPr sz="1250">
                <a:solidFill>
                  <a:srgbClr val="202020"/>
                </a:solidFill>
              </a:rPr>
              <a:t>Both, interacting. Ablations show identical overconfidence regardless of evidence-selection method, so the failure is upstream of any single retrieval choice — but the corpus's domain mismatch is what supplies the irrelevant-but-similar evidence the verifier then mis-scores. It's a corpus + verifier interaction, not one broken component.</a:t>
            </a:r>
          </a:p>
        </p:txBody>
      </p:sp>
      <p:sp>
        <p:nvSpPr>
          <p:cNvPr id="12" name="TextBox 11"/>
          <p:cNvSpPr txBox="1"/>
          <p:nvPr/>
        </p:nvSpPr>
        <p:spPr>
          <a:xfrm>
            <a:off x="502920" y="6565392"/>
            <a:ext cx="11155680" cy="256032"/>
          </a:xfrm>
          <a:prstGeom prst="rect">
            <a:avLst/>
          </a:prstGeom>
          <a:noFill/>
        </p:spPr>
        <p:txBody>
          <a:bodyPr wrap="square">
            <a:spAutoFit/>
          </a:bodyPr>
          <a:lstStyle/>
          <a:p>
            <a:pPr algn="l"/>
            <a:r>
              <a:rPr sz="900" b="0" i="1">
                <a:solidFill>
                  <a:srgbClr val="5B6470"/>
                </a:solidFill>
              </a:rPr>
              <a:t>ClaimGuard — Appendix (Q&amp;A)  |  Not part of the 15-20 minute core presentation.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960120"/>
          </a:xfrm>
          <a:prstGeom prst="rect">
            <a:avLst/>
          </a:prstGeom>
          <a:noFill/>
        </p:spPr>
        <p:txBody>
          <a:bodyPr wrap="square">
            <a:spAutoFit/>
          </a:bodyPr>
          <a:lstStyle/>
          <a:p>
            <a:r>
              <a:rPr sz="2800" b="1">
                <a:solidFill>
                  <a:srgbClr val="1F3A5F"/>
                </a:solidFill>
              </a:rPr>
              <a:t>Appendix — Anticipated Guide Questions (5/5)</a:t>
            </a:r>
          </a:p>
          <a:p>
            <a:r>
              <a:rPr sz="1400" i="1">
                <a:solidFill>
                  <a:srgbClr val="5B6470"/>
                </a:solidFill>
              </a:rPr>
              <a:t>Answers use only established project evidence — no invented claims.</a:t>
            </a:r>
          </a:p>
        </p:txBody>
      </p:sp>
      <p:sp>
        <p:nvSpPr>
          <p:cNvPr id="3" name="Rectangle 2"/>
          <p:cNvSpPr/>
          <p:nvPr/>
        </p:nvSpPr>
        <p:spPr>
          <a:xfrm>
            <a:off x="502920" y="1078992"/>
            <a:ext cx="11155680" cy="279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11064240" cy="365760"/>
          </a:xfrm>
          <a:prstGeom prst="rect">
            <a:avLst/>
          </a:prstGeom>
          <a:noFill/>
        </p:spPr>
        <p:txBody>
          <a:bodyPr wrap="square">
            <a:spAutoFit/>
          </a:bodyPr>
          <a:lstStyle/>
          <a:p>
            <a:r>
              <a:rPr b="1" sz="1500">
                <a:solidFill>
                  <a:srgbClr val="1F3A5F"/>
                </a:solidFill>
              </a:rPr>
              <a:t>Q17.  How do you know there was no data leakage?</a:t>
            </a:r>
          </a:p>
        </p:txBody>
      </p:sp>
      <p:sp>
        <p:nvSpPr>
          <p:cNvPr id="5" name="TextBox 4"/>
          <p:cNvSpPr txBox="1"/>
          <p:nvPr/>
        </p:nvSpPr>
        <p:spPr>
          <a:xfrm>
            <a:off x="822960" y="1764792"/>
            <a:ext cx="10789920" cy="685800"/>
          </a:xfrm>
          <a:prstGeom prst="rect">
            <a:avLst/>
          </a:prstGeom>
          <a:noFill/>
        </p:spPr>
        <p:txBody>
          <a:bodyPr wrap="square">
            <a:spAutoFit/>
          </a:bodyPr>
          <a:lstStyle/>
          <a:p>
            <a:r>
              <a:rPr sz="1250">
                <a:solidFill>
                  <a:srgbClr val="202020"/>
                </a:solidFill>
              </a:rPr>
              <a:t>An exact-match, field-aware contamination sweep found and removed 200 HaluEval pool records overlapping RAGTruth test sources. RoleViolationError guards confirm RAGTruth test and TruthfulQA can never enter the training pool, and gold-label isolation is enforced via AST import-exclusion plus mock-based behavioral tests.</a:t>
            </a:r>
          </a:p>
        </p:txBody>
      </p:sp>
      <p:sp>
        <p:nvSpPr>
          <p:cNvPr id="6" name="TextBox 5"/>
          <p:cNvSpPr txBox="1"/>
          <p:nvPr/>
        </p:nvSpPr>
        <p:spPr>
          <a:xfrm>
            <a:off x="548640" y="2514600"/>
            <a:ext cx="11064240" cy="365760"/>
          </a:xfrm>
          <a:prstGeom prst="rect">
            <a:avLst/>
          </a:prstGeom>
          <a:noFill/>
        </p:spPr>
        <p:txBody>
          <a:bodyPr wrap="square">
            <a:spAutoFit/>
          </a:bodyPr>
          <a:lstStyle/>
          <a:p>
            <a:r>
              <a:rPr b="1" sz="1500">
                <a:solidFill>
                  <a:srgbClr val="1F3A5F"/>
                </a:solidFill>
              </a:rPr>
              <a:t>Q18.  What is the strongest result of the project?</a:t>
            </a:r>
          </a:p>
        </p:txBody>
      </p:sp>
      <p:sp>
        <p:nvSpPr>
          <p:cNvPr id="7" name="TextBox 6"/>
          <p:cNvSpPr txBox="1"/>
          <p:nvPr/>
        </p:nvSpPr>
        <p:spPr>
          <a:xfrm>
            <a:off x="822960" y="2862072"/>
            <a:ext cx="10789920" cy="685800"/>
          </a:xfrm>
          <a:prstGeom prst="rect">
            <a:avLst/>
          </a:prstGeom>
          <a:noFill/>
        </p:spPr>
        <p:txBody>
          <a:bodyPr wrap="square">
            <a:spAutoFit/>
          </a:bodyPr>
          <a:lstStyle/>
          <a:p>
            <a:r>
              <a:rPr sz="1250">
                <a:solidFill>
                  <a:srgbClr val="202020"/>
                </a:solidFill>
              </a:rPr>
              <a:t>The verifier's in-domain quality: 96.20% accuracy / 0.9585 macro F1 on a 16,890-example dev set, with clean calibration (ECE=0.0092) on gold evidence — plus the methodological rigor (contamination control, gold isolation, cross-validated determinism) that makes the failure diagnosis itself trustworthy.</a:t>
            </a:r>
          </a:p>
        </p:txBody>
      </p:sp>
      <p:sp>
        <p:nvSpPr>
          <p:cNvPr id="8" name="TextBox 7"/>
          <p:cNvSpPr txBox="1"/>
          <p:nvPr/>
        </p:nvSpPr>
        <p:spPr>
          <a:xfrm>
            <a:off x="548640" y="3611880"/>
            <a:ext cx="11064240" cy="365760"/>
          </a:xfrm>
          <a:prstGeom prst="rect">
            <a:avLst/>
          </a:prstGeom>
          <a:noFill/>
        </p:spPr>
        <p:txBody>
          <a:bodyPr wrap="square">
            <a:spAutoFit/>
          </a:bodyPr>
          <a:lstStyle/>
          <a:p>
            <a:r>
              <a:rPr b="1" sz="1500">
                <a:solidFill>
                  <a:srgbClr val="1F3A5F"/>
                </a:solidFill>
              </a:rPr>
              <a:t>Q19.  What is the biggest limitation?</a:t>
            </a:r>
          </a:p>
        </p:txBody>
      </p:sp>
      <p:sp>
        <p:nvSpPr>
          <p:cNvPr id="9" name="TextBox 8"/>
          <p:cNvSpPr txBox="1"/>
          <p:nvPr/>
        </p:nvSpPr>
        <p:spPr>
          <a:xfrm>
            <a:off x="822960" y="3959352"/>
            <a:ext cx="10789920" cy="685800"/>
          </a:xfrm>
          <a:prstGeom prst="rect">
            <a:avLst/>
          </a:prstGeom>
          <a:noFill/>
        </p:spPr>
        <p:txBody>
          <a:bodyPr wrap="square">
            <a:spAutoFit/>
          </a:bodyPr>
          <a:lstStyle/>
          <a:p>
            <a:r>
              <a:rPr sz="1250">
                <a:solidFill>
                  <a:srgbClr val="202020"/>
                </a:solidFill>
              </a:rPr>
              <a:t>The retrieval corpus (FEVER/Wikipedia) was never rebuilt to match RAGTruth's or TruthfulQA's actual source domains — the single largest, identified, and addressable limitation.</a:t>
            </a:r>
          </a:p>
        </p:txBody>
      </p:sp>
      <p:sp>
        <p:nvSpPr>
          <p:cNvPr id="10" name="TextBox 9"/>
          <p:cNvSpPr txBox="1"/>
          <p:nvPr/>
        </p:nvSpPr>
        <p:spPr>
          <a:xfrm>
            <a:off x="548640" y="4709160"/>
            <a:ext cx="11064240" cy="365760"/>
          </a:xfrm>
          <a:prstGeom prst="rect">
            <a:avLst/>
          </a:prstGeom>
          <a:noFill/>
        </p:spPr>
        <p:txBody>
          <a:bodyPr wrap="square">
            <a:spAutoFit/>
          </a:bodyPr>
          <a:lstStyle/>
          <a:p>
            <a:r>
              <a:rPr b="1" sz="1500">
                <a:solidFill>
                  <a:srgbClr val="1F3A5F"/>
                </a:solidFill>
              </a:rPr>
              <a:t>Q20.  What would be the next experiment?</a:t>
            </a:r>
          </a:p>
        </p:txBody>
      </p:sp>
      <p:sp>
        <p:nvSpPr>
          <p:cNvPr id="11" name="TextBox 10"/>
          <p:cNvSpPr txBox="1"/>
          <p:nvPr/>
        </p:nvSpPr>
        <p:spPr>
          <a:xfrm>
            <a:off x="822960" y="5056632"/>
            <a:ext cx="10789920" cy="685800"/>
          </a:xfrm>
          <a:prstGeom prst="rect">
            <a:avLst/>
          </a:prstGeom>
          <a:noFill/>
        </p:spPr>
        <p:txBody>
          <a:bodyPr wrap="square">
            <a:spAutoFit/>
          </a:bodyPr>
          <a:lstStyle/>
          <a:p>
            <a:r>
              <a:rPr sz="1250">
                <a:solidFill>
                  <a:srgbClr val="202020"/>
                </a:solidFill>
              </a:rPr>
              <a:t>Re-analyze Step 15/16's existing FEVER-domain artifacts to test whether verifier overconfidence persists even when retrieval quality is held at a known-good level — answerable from already-existing data, no new collection needed.</a:t>
            </a:r>
          </a:p>
        </p:txBody>
      </p:sp>
      <p:sp>
        <p:nvSpPr>
          <p:cNvPr id="12" name="TextBox 11"/>
          <p:cNvSpPr txBox="1"/>
          <p:nvPr/>
        </p:nvSpPr>
        <p:spPr>
          <a:xfrm>
            <a:off x="502920" y="6565392"/>
            <a:ext cx="11155680" cy="256032"/>
          </a:xfrm>
          <a:prstGeom prst="rect">
            <a:avLst/>
          </a:prstGeom>
          <a:noFill/>
        </p:spPr>
        <p:txBody>
          <a:bodyPr wrap="square">
            <a:spAutoFit/>
          </a:bodyPr>
          <a:lstStyle/>
          <a:p>
            <a:pPr algn="l"/>
            <a:r>
              <a:rPr sz="900" b="0" i="1">
                <a:solidFill>
                  <a:srgbClr val="5B6470"/>
                </a:solidFill>
              </a:rPr>
              <a:t>ClaimGuard — Appendix (Q&amp;A)  |  Not part of the 15-20 minute core presentation.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